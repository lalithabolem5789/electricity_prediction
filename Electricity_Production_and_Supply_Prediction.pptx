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9" r:id="rId3"/>
    <p:sldId id="257" r:id="rId4"/>
    <p:sldId id="258" r:id="rId5"/>
    <p:sldId id="270" r:id="rId6"/>
    <p:sldId id="271" r:id="rId7"/>
    <p:sldId id="272" r:id="rId8"/>
    <p:sldId id="261" r:id="rId9"/>
    <p:sldId id="273" r:id="rId10"/>
    <p:sldId id="262" r:id="rId11"/>
    <p:sldId id="263" r:id="rId12"/>
    <p:sldId id="274" r:id="rId13"/>
    <p:sldId id="264" r:id="rId14"/>
    <p:sldId id="265" r:id="rId15"/>
    <p:sldId id="266" r:id="rId16"/>
    <p:sldId id="267" r:id="rId17"/>
    <p:sldId id="268"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296" y="68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FDDC2C3-8FB5-4C05-86E4-0997214A0342}" type="datetimeFigureOut">
              <a:rPr lang="en-US" smtClean="0"/>
              <a:pPr/>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1D58ED-21AD-4F82-929F-8D0C28086D0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FDDC2C3-8FB5-4C05-86E4-0997214A0342}" type="datetimeFigureOut">
              <a:rPr lang="en-US" smtClean="0"/>
              <a:pPr/>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1D58ED-21AD-4F82-929F-8D0C28086D0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FDDC2C3-8FB5-4C05-86E4-0997214A0342}" type="datetimeFigureOut">
              <a:rPr lang="en-US" smtClean="0"/>
              <a:pPr/>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1D58ED-21AD-4F82-929F-8D0C28086D0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FDDC2C3-8FB5-4C05-86E4-0997214A0342}" type="datetimeFigureOut">
              <a:rPr lang="en-US" smtClean="0"/>
              <a:pPr/>
              <a:t>4/16/2025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1D58ED-21AD-4F82-929F-8D0C28086D0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FDDC2C3-8FB5-4C05-86E4-0997214A0342}" type="datetimeFigureOut">
              <a:rPr lang="en-US" smtClean="0"/>
              <a:pPr/>
              <a:t>4/16/2025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1D58ED-21AD-4F82-929F-8D0C28086D0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FDDC2C3-8FB5-4C05-86E4-0997214A0342}" type="datetimeFigureOut">
              <a:rPr lang="en-US" smtClean="0"/>
              <a:pPr/>
              <a:t>4/16/2025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1D58ED-21AD-4F82-929F-8D0C28086D0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DDC2C3-8FB5-4C05-86E4-0997214A0342}" type="datetimeFigureOut">
              <a:rPr lang="en-US" smtClean="0"/>
              <a:pPr/>
              <a:t>4/16/2025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C1D58ED-21AD-4F82-929F-8D0C28086D0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FDDC2C3-8FB5-4C05-86E4-0997214A0342}" type="datetimeFigureOut">
              <a:rPr lang="en-US" smtClean="0"/>
              <a:pPr/>
              <a:t>4/16/2025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1D58ED-21AD-4F82-929F-8D0C28086D0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FDDC2C3-8FB5-4C05-86E4-0997214A0342}" type="datetimeFigureOut">
              <a:rPr lang="en-US" smtClean="0"/>
              <a:pPr/>
              <a:t>4/16/2025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1D58ED-21AD-4F82-929F-8D0C28086D0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FDDC2C3-8FB5-4C05-86E4-0997214A0342}" type="datetimeFigureOut">
              <a:rPr lang="en-US" smtClean="0"/>
              <a:pPr/>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1D58ED-21AD-4F82-929F-8D0C28086D0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FDDC2C3-8FB5-4C05-86E4-0997214A0342}" type="datetimeFigureOut">
              <a:rPr lang="en-US" smtClean="0"/>
              <a:pPr/>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1D58ED-21AD-4F82-929F-8D0C28086D0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DDC2C3-8FB5-4C05-86E4-0997214A0342}" type="datetimeFigureOut">
              <a:rPr lang="en-US" smtClean="0"/>
              <a:pPr/>
              <a:t>4/16/2025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1D58ED-21AD-4F82-929F-8D0C28086D0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latin typeface="Times New Roman" pitchFamily="18" charset="0"/>
                <a:cs typeface="Times New Roman" pitchFamily="18" charset="0"/>
              </a:rPr>
              <a:t>Electricity Production and Supply Prediction</a:t>
            </a:r>
            <a:endParaRPr lang="en-US" dirty="0">
              <a:latin typeface="Times New Roman" pitchFamily="18" charset="0"/>
              <a:cs typeface="Times New Roman" pitchFamily="18" charset="0"/>
            </a:endParaRPr>
          </a:p>
        </p:txBody>
      </p:sp>
      <p:sp>
        <p:nvSpPr>
          <p:cNvPr id="3" name="Subtitle 2"/>
          <p:cNvSpPr>
            <a:spLocks noGrp="1"/>
          </p:cNvSpPr>
          <p:nvPr>
            <p:ph type="subTitle" idx="1"/>
          </p:nvPr>
        </p:nvSpPr>
        <p:spPr/>
        <p:txBody>
          <a:bodyPr>
            <a:normAutofit/>
          </a:bodyPr>
          <a:lstStyle/>
          <a:p>
            <a:r>
              <a:rPr lang="en-US" sz="1600" dirty="0" err="1" smtClean="0">
                <a:latin typeface="Times New Roman" pitchFamily="18" charset="0"/>
                <a:cs typeface="Times New Roman" pitchFamily="18" charset="0"/>
              </a:rPr>
              <a:t>Bolem</a:t>
            </a:r>
            <a:r>
              <a:rPr lang="en-US" sz="1600" dirty="0" smtClean="0">
                <a:latin typeface="Times New Roman" pitchFamily="18" charset="0"/>
                <a:cs typeface="Times New Roman" pitchFamily="18" charset="0"/>
              </a:rPr>
              <a:t> Siva Rama </a:t>
            </a:r>
            <a:r>
              <a:rPr lang="en-US" sz="1600" dirty="0" err="1" smtClean="0">
                <a:latin typeface="Times New Roman" pitchFamily="18" charset="0"/>
                <a:cs typeface="Times New Roman" pitchFamily="18" charset="0"/>
              </a:rPr>
              <a:t>Lalitha</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Lakshmi</a:t>
            </a:r>
            <a:endParaRPr lang="en-US" sz="1600" dirty="0" smtClean="0">
              <a:latin typeface="Times New Roman" pitchFamily="18" charset="0"/>
              <a:cs typeface="Times New Roman" pitchFamily="18" charset="0"/>
            </a:endParaRPr>
          </a:p>
          <a:p>
            <a:r>
              <a:rPr lang="en-US" sz="1600" dirty="0" err="1" smtClean="0">
                <a:latin typeface="Times New Roman" pitchFamily="18" charset="0"/>
                <a:cs typeface="Times New Roman" pitchFamily="18" charset="0"/>
              </a:rPr>
              <a:t>Kukutam</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Bharath</a:t>
            </a:r>
            <a:r>
              <a:rPr lang="en-US" sz="1600" dirty="0" smtClean="0">
                <a:latin typeface="Times New Roman" pitchFamily="18" charset="0"/>
                <a:cs typeface="Times New Roman" pitchFamily="18" charset="0"/>
              </a:rPr>
              <a:t> Reddy</a:t>
            </a:r>
          </a:p>
          <a:p>
            <a:endParaRPr lang="en-US" sz="1600" dirty="0">
              <a:latin typeface="Times New Roman" pitchFamily="18" charset="0"/>
              <a:cs typeface="Times New Roman" pitchFamily="18" charset="0"/>
            </a:endParaRPr>
          </a:p>
          <a:p>
            <a:r>
              <a:rPr lang="en-US" sz="1600" dirty="0" smtClean="0">
                <a:latin typeface="Times New Roman" pitchFamily="18" charset="0"/>
                <a:cs typeface="Times New Roman" pitchFamily="18" charset="0"/>
              </a:rPr>
              <a:t>Date of Presentation: 17-04-2025</a:t>
            </a:r>
            <a:endParaRPr lang="en-US" sz="16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73193AF-0CEF-1386-DB96-0D8571B9D800}"/>
              </a:ext>
            </a:extLst>
          </p:cNvPr>
          <p:cNvSpPr>
            <a:spLocks noGrp="1"/>
          </p:cNvSpPr>
          <p:nvPr>
            <p:ph type="title"/>
          </p:nvPr>
        </p:nvSpPr>
        <p:spPr/>
        <p:txBody>
          <a:bodyPr>
            <a:normAutofit/>
          </a:bodyPr>
          <a:lstStyle/>
          <a:p>
            <a:pPr algn="ctr"/>
            <a:r>
              <a:rPr lang="en-IN" dirty="0">
                <a:latin typeface="Times New Roman" panose="02020603050405020304" pitchFamily="18" charset="0"/>
                <a:cs typeface="Times New Roman" panose="02020603050405020304" pitchFamily="18" charset="0"/>
              </a:rPr>
              <a:t>Presentation Outline</a:t>
            </a:r>
            <a:endParaRPr lang="en-US" dirty="0"/>
          </a:p>
        </p:txBody>
      </p:sp>
      <p:sp>
        <p:nvSpPr>
          <p:cNvPr id="3" name="Content Placeholder 2">
            <a:extLst>
              <a:ext uri="{FF2B5EF4-FFF2-40B4-BE49-F238E27FC236}">
                <a16:creationId xmlns:a16="http://schemas.microsoft.com/office/drawing/2014/main" xmlns="" id="{C21EBE96-CB32-96CF-6DD1-73AF9D2CB7C3}"/>
              </a:ext>
            </a:extLst>
          </p:cNvPr>
          <p:cNvSpPr>
            <a:spLocks noGrp="1"/>
          </p:cNvSpPr>
          <p:nvPr>
            <p:ph idx="1"/>
          </p:nvPr>
        </p:nvSpPr>
        <p:spPr/>
        <p:txBody>
          <a:bodyPr>
            <a:normAutofit/>
          </a:bodyPr>
          <a:lstStyle/>
          <a:p>
            <a:pPr algn="just"/>
            <a:r>
              <a:rPr lang="en-US" sz="2000" dirty="0">
                <a:latin typeface="Times New Roman" panose="02020603050405020304" pitchFamily="18" charset="0"/>
                <a:cs typeface="Times New Roman" panose="02020603050405020304" pitchFamily="18" charset="0"/>
              </a:rPr>
              <a:t>Introduction &amp; Problem Statement </a:t>
            </a:r>
          </a:p>
          <a:p>
            <a:pPr algn="just"/>
            <a:r>
              <a:rPr lang="en-US" sz="2000" dirty="0">
                <a:latin typeface="Times New Roman" panose="02020603050405020304" pitchFamily="18" charset="0"/>
                <a:cs typeface="Times New Roman" panose="02020603050405020304" pitchFamily="18" charset="0"/>
              </a:rPr>
              <a:t>Objectives</a:t>
            </a:r>
          </a:p>
          <a:p>
            <a:pPr algn="just"/>
            <a:r>
              <a:rPr lang="en-US" sz="2000" dirty="0">
                <a:latin typeface="Times New Roman" panose="02020603050405020304" pitchFamily="18" charset="0"/>
                <a:cs typeface="Times New Roman" panose="02020603050405020304" pitchFamily="18" charset="0"/>
              </a:rPr>
              <a:t>Literature Review</a:t>
            </a:r>
          </a:p>
          <a:p>
            <a:pPr algn="just"/>
            <a:r>
              <a:rPr lang="en-US" sz="2000" dirty="0">
                <a:latin typeface="Times New Roman" panose="02020603050405020304" pitchFamily="18" charset="0"/>
                <a:cs typeface="Times New Roman" panose="02020603050405020304" pitchFamily="18" charset="0"/>
              </a:rPr>
              <a:t>Data Description</a:t>
            </a:r>
          </a:p>
          <a:p>
            <a:pPr algn="just"/>
            <a:r>
              <a:rPr lang="en-US" sz="2000" dirty="0">
                <a:latin typeface="Times New Roman" panose="02020603050405020304" pitchFamily="18" charset="0"/>
                <a:cs typeface="Times New Roman" panose="02020603050405020304" pitchFamily="18" charset="0"/>
              </a:rPr>
              <a:t>Methodology  </a:t>
            </a:r>
          </a:p>
          <a:p>
            <a:pPr algn="just"/>
            <a:r>
              <a:rPr lang="en-US" sz="2000" dirty="0" smtClean="0">
                <a:latin typeface="Times New Roman" panose="02020603050405020304" pitchFamily="18" charset="0"/>
                <a:cs typeface="Times New Roman" panose="02020603050405020304" pitchFamily="18" charset="0"/>
              </a:rPr>
              <a:t>Model Architectures</a:t>
            </a:r>
            <a:endParaRPr lang="en-US" sz="2000" dirty="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Results</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Conclusion &amp; Future Work</a:t>
            </a:r>
          </a:p>
          <a:p>
            <a:pPr algn="just"/>
            <a:r>
              <a:rPr lang="en-US" sz="2000"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xmlns="" val="254532427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latin typeface="Times New Roman" pitchFamily="18" charset="0"/>
                <a:cs typeface="Times New Roman" pitchFamily="18" charset="0"/>
              </a:rPr>
              <a:t>Introduction</a:t>
            </a:r>
            <a:endParaRPr lang="en-US" dirty="0">
              <a:latin typeface="Times New Roman" pitchFamily="18" charset="0"/>
              <a:cs typeface="Times New Roman" pitchFamily="18" charset="0"/>
            </a:endParaRPr>
          </a:p>
        </p:txBody>
      </p:sp>
      <p:sp>
        <p:nvSpPr>
          <p:cNvPr id="4" name="Content Placeholder 3"/>
          <p:cNvSpPr>
            <a:spLocks noGrp="1"/>
          </p:cNvSpPr>
          <p:nvPr>
            <p:ph idx="1"/>
          </p:nvPr>
        </p:nvSpPr>
        <p:spPr/>
        <p:txBody>
          <a:bodyPr>
            <a:normAutofit/>
          </a:bodyPr>
          <a:lstStyle/>
          <a:p>
            <a:pPr>
              <a:buNone/>
            </a:pPr>
            <a:r>
              <a:rPr lang="en-US" sz="2800" b="1" dirty="0" smtClean="0">
                <a:latin typeface="Times New Roman" pitchFamily="18" charset="0"/>
                <a:cs typeface="Times New Roman" pitchFamily="18" charset="0"/>
              </a:rPr>
              <a:t>Problem Statement:</a:t>
            </a:r>
          </a:p>
          <a:p>
            <a:pPr algn="just">
              <a:lnSpc>
                <a:spcPct val="150000"/>
              </a:lnSpc>
              <a:buNone/>
            </a:pPr>
            <a:r>
              <a:rPr lang="en-US" sz="18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Reducing </a:t>
            </a:r>
            <a:r>
              <a:rPr lang="en-US" sz="1600" dirty="0">
                <a:latin typeface="Times New Roman" pitchFamily="18" charset="0"/>
                <a:cs typeface="Times New Roman" pitchFamily="18" charset="0"/>
              </a:rPr>
              <a:t>expenses, fulfilling energy demand, and improving grid management all depend on accurate forecasting of electricity production and supply. The objective of this research is to construct a forecasting model in a comparison study employing time series approaches like ARIMA, SARIMA, SARIMAX, and techniques like neural networks such as LSTM, DNN. Prior research on electricity forecasting has mostly concentrated on conventional time series techniques like ARIMA and SARIMA, which work well for stationary and linear data but poorly for non-linear and dynamic patterns. Power producing firms will be able to optimize planning, pricing, and renewable energy initiatives with the help of improved forecasting accuracy, improved grid management, and support for sustainable energy systems.</a:t>
            </a:r>
            <a:endParaRPr lang="en-US" sz="1800" dirty="0">
              <a:latin typeface="Times New Roman" pitchFamily="18" charset="0"/>
              <a:cs typeface="Times New Roman" pitchFamily="18" charset="0"/>
            </a:endParaRPr>
          </a:p>
          <a:p>
            <a:pPr>
              <a:buNone/>
            </a:pP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664"/>
            <a:ext cx="8229600" cy="5976664"/>
          </a:xfrm>
        </p:spPr>
        <p:txBody>
          <a:bodyPr>
            <a:normAutofit fontScale="25000" lnSpcReduction="20000"/>
          </a:bodyPr>
          <a:lstStyle/>
          <a:p>
            <a:pPr>
              <a:buNone/>
            </a:pPr>
            <a:r>
              <a:rPr lang="en-US" sz="11200" b="1" dirty="0" smtClean="0">
                <a:latin typeface="Times New Roman" pitchFamily="18" charset="0"/>
                <a:cs typeface="Times New Roman" pitchFamily="18" charset="0"/>
              </a:rPr>
              <a:t>Objectives:</a:t>
            </a:r>
          </a:p>
          <a:p>
            <a:pPr>
              <a:buNone/>
            </a:pPr>
            <a:endParaRPr lang="en-US" dirty="0" smtClean="0"/>
          </a:p>
          <a:p>
            <a:pPr>
              <a:lnSpc>
                <a:spcPct val="170000"/>
              </a:lnSpc>
              <a:buNone/>
            </a:pPr>
            <a:r>
              <a:rPr lang="en-US" sz="6400" dirty="0" smtClean="0">
                <a:latin typeface="Times New Roman" pitchFamily="18" charset="0"/>
                <a:cs typeface="Times New Roman" pitchFamily="18" charset="0"/>
              </a:rPr>
              <a:t>	</a:t>
            </a:r>
            <a:r>
              <a:rPr lang="en-US" sz="5600" dirty="0" smtClean="0">
                <a:latin typeface="Times New Roman" pitchFamily="18" charset="0"/>
                <a:cs typeface="Times New Roman" pitchFamily="18" charset="0"/>
              </a:rPr>
              <a:t>The </a:t>
            </a:r>
            <a:r>
              <a:rPr lang="en-US" sz="5600" dirty="0">
                <a:latin typeface="Times New Roman" pitchFamily="18" charset="0"/>
                <a:cs typeface="Times New Roman" pitchFamily="18" charset="0"/>
              </a:rPr>
              <a:t>primary goal of the project is to build and evaluate the forecasting models for </a:t>
            </a:r>
            <a:r>
              <a:rPr lang="en-US" sz="5600" dirty="0" smtClean="0">
                <a:latin typeface="Times New Roman" pitchFamily="18" charset="0"/>
                <a:cs typeface="Times New Roman" pitchFamily="18" charset="0"/>
              </a:rPr>
              <a:t>electricity production </a:t>
            </a:r>
            <a:r>
              <a:rPr lang="en-US" sz="5600" dirty="0">
                <a:latin typeface="Times New Roman" pitchFamily="18" charset="0"/>
                <a:cs typeface="Times New Roman" pitchFamily="18" charset="0"/>
              </a:rPr>
              <a:t>and supply by utilizing both traditional time series techniques and advanced neural network architectures. The performance of these models will be compared based on the prediction accuracy</a:t>
            </a:r>
            <a:r>
              <a:rPr lang="en-US" sz="5600" dirty="0" smtClean="0">
                <a:latin typeface="Times New Roman" pitchFamily="18" charset="0"/>
                <a:cs typeface="Times New Roman" pitchFamily="18" charset="0"/>
              </a:rPr>
              <a:t>.</a:t>
            </a:r>
          </a:p>
          <a:p>
            <a:pPr>
              <a:lnSpc>
                <a:spcPct val="170000"/>
              </a:lnSpc>
              <a:buNone/>
            </a:pPr>
            <a:endParaRPr lang="en-US" sz="5600" dirty="0">
              <a:latin typeface="Times New Roman" pitchFamily="18" charset="0"/>
              <a:cs typeface="Times New Roman" pitchFamily="18" charset="0"/>
            </a:endParaRPr>
          </a:p>
          <a:p>
            <a:pPr lvl="0">
              <a:lnSpc>
                <a:spcPct val="170000"/>
              </a:lnSpc>
            </a:pPr>
            <a:r>
              <a:rPr lang="en-US" sz="5600" dirty="0">
                <a:latin typeface="Times New Roman" pitchFamily="18" charset="0"/>
                <a:cs typeface="Times New Roman" pitchFamily="18" charset="0"/>
              </a:rPr>
              <a:t>To gather and interpret energy related data along with influential variables such as weather conditions.</a:t>
            </a:r>
          </a:p>
          <a:p>
            <a:pPr lvl="0">
              <a:lnSpc>
                <a:spcPct val="170000"/>
              </a:lnSpc>
            </a:pPr>
            <a:r>
              <a:rPr lang="en-US" sz="5600" dirty="0">
                <a:latin typeface="Times New Roman" pitchFamily="18" charset="0"/>
                <a:cs typeface="Times New Roman" pitchFamily="18" charset="0"/>
              </a:rPr>
              <a:t>To clean, preprocess, and merge various datasets to create a comprehensive and usable dataset.</a:t>
            </a:r>
          </a:p>
          <a:p>
            <a:pPr lvl="0">
              <a:lnSpc>
                <a:spcPct val="170000"/>
              </a:lnSpc>
            </a:pPr>
            <a:r>
              <a:rPr lang="en-US" sz="5600" dirty="0">
                <a:latin typeface="Times New Roman" pitchFamily="18" charset="0"/>
                <a:cs typeface="Times New Roman" pitchFamily="18" charset="0"/>
              </a:rPr>
              <a:t>To use dimensionality reduction methods like Principal Component Analysis (PCA) to identify the most impactful features for accurate forecasting.</a:t>
            </a:r>
          </a:p>
          <a:p>
            <a:pPr lvl="0">
              <a:lnSpc>
                <a:spcPct val="170000"/>
              </a:lnSpc>
            </a:pPr>
            <a:r>
              <a:rPr lang="en-US" sz="5600" dirty="0">
                <a:latin typeface="Times New Roman" pitchFamily="18" charset="0"/>
                <a:cs typeface="Times New Roman" pitchFamily="18" charset="0"/>
              </a:rPr>
              <a:t>To design and implement a range of models including ARIMA, SARIMA, SARIMAX, Long Short-Term Memory (LSTM), and Deep Neural Networks (DNN).</a:t>
            </a:r>
          </a:p>
          <a:p>
            <a:pPr lvl="0">
              <a:lnSpc>
                <a:spcPct val="170000"/>
              </a:lnSpc>
            </a:pPr>
            <a:r>
              <a:rPr lang="en-US" sz="5600" dirty="0">
                <a:latin typeface="Times New Roman" pitchFamily="18" charset="0"/>
                <a:cs typeface="Times New Roman" pitchFamily="18" charset="0"/>
              </a:rPr>
              <a:t>To assess model performance using evaluation metrics such as  Root Mean Square Error (RMSE), Mean Squared Error (MSE), and Mean Absolute Error (MAE) and to perform comparative analysis.</a:t>
            </a:r>
          </a:p>
          <a:p>
            <a:pPr lvl="0">
              <a:lnSpc>
                <a:spcPct val="170000"/>
              </a:lnSpc>
            </a:pPr>
            <a:r>
              <a:rPr lang="en-US" sz="5600" dirty="0">
                <a:latin typeface="Times New Roman" pitchFamily="18" charset="0"/>
                <a:cs typeface="Times New Roman" pitchFamily="18" charset="0"/>
              </a:rPr>
              <a:t>To generate future prediction visualizations that support effective energy management, intelligent and eco-friendly energy infrastructures.</a:t>
            </a:r>
          </a:p>
          <a:p>
            <a:pPr>
              <a:buNone/>
            </a:pP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5193" y="-18256"/>
            <a:ext cx="8229600" cy="1143000"/>
          </a:xfrm>
        </p:spPr>
        <p:txBody>
          <a:bodyPr/>
          <a:lstStyle/>
          <a:p>
            <a:r>
              <a:rPr lang="en-US" dirty="0" smtClean="0">
                <a:latin typeface="Times New Roman" pitchFamily="18" charset="0"/>
                <a:cs typeface="Times New Roman" pitchFamily="18" charset="0"/>
              </a:rPr>
              <a:t>Literature Review</a:t>
            </a:r>
            <a:endParaRPr lang="en-US" dirty="0">
              <a:latin typeface="Times New Roman" pitchFamily="18" charset="0"/>
              <a:cs typeface="Times New Roman"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xmlns="" val="1179092189"/>
              </p:ext>
            </p:extLst>
          </p:nvPr>
        </p:nvGraphicFramePr>
        <p:xfrm>
          <a:off x="251520" y="1124744"/>
          <a:ext cx="8443272" cy="4622760"/>
        </p:xfrm>
        <a:graphic>
          <a:graphicData uri="http://schemas.openxmlformats.org/drawingml/2006/table">
            <a:tbl>
              <a:tblPr firstRow="1" bandRow="1">
                <a:tableStyleId>{5C22544A-7EE6-4342-B048-85BDC9FD1C3A}</a:tableStyleId>
              </a:tblPr>
              <a:tblGrid>
                <a:gridCol w="795913">
                  <a:extLst>
                    <a:ext uri="{9D8B030D-6E8A-4147-A177-3AD203B41FA5}">
                      <a16:colId xmlns:a16="http://schemas.microsoft.com/office/drawing/2014/main" xmlns="" val="2616188720"/>
                    </a:ext>
                  </a:extLst>
                </a:gridCol>
                <a:gridCol w="1212489">
                  <a:extLst>
                    <a:ext uri="{9D8B030D-6E8A-4147-A177-3AD203B41FA5}">
                      <a16:colId xmlns:a16="http://schemas.microsoft.com/office/drawing/2014/main" xmlns="" val="1448871025"/>
                    </a:ext>
                  </a:extLst>
                </a:gridCol>
                <a:gridCol w="1169977">
                  <a:extLst>
                    <a:ext uri="{9D8B030D-6E8A-4147-A177-3AD203B41FA5}">
                      <a16:colId xmlns:a16="http://schemas.microsoft.com/office/drawing/2014/main" xmlns="" val="1923714292"/>
                    </a:ext>
                  </a:extLst>
                </a:gridCol>
                <a:gridCol w="1504255">
                  <a:extLst>
                    <a:ext uri="{9D8B030D-6E8A-4147-A177-3AD203B41FA5}">
                      <a16:colId xmlns:a16="http://schemas.microsoft.com/office/drawing/2014/main" xmlns="" val="1693413648"/>
                    </a:ext>
                  </a:extLst>
                </a:gridCol>
                <a:gridCol w="1337116">
                  <a:extLst>
                    <a:ext uri="{9D8B030D-6E8A-4147-A177-3AD203B41FA5}">
                      <a16:colId xmlns:a16="http://schemas.microsoft.com/office/drawing/2014/main" xmlns="" val="2724993914"/>
                    </a:ext>
                  </a:extLst>
                </a:gridCol>
                <a:gridCol w="2423522">
                  <a:extLst>
                    <a:ext uri="{9D8B030D-6E8A-4147-A177-3AD203B41FA5}">
                      <a16:colId xmlns:a16="http://schemas.microsoft.com/office/drawing/2014/main" xmlns="" val="2938067235"/>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err="1" smtClean="0"/>
                        <a:t>SNo</a:t>
                      </a:r>
                      <a:r>
                        <a:rPr lang="en-US" dirty="0" smtClean="0"/>
                        <a:t>.</a:t>
                      </a:r>
                    </a:p>
                  </a:txBody>
                  <a:tcPr/>
                </a:tc>
                <a:tc>
                  <a:txBody>
                    <a:bodyPr/>
                    <a:lstStyle/>
                    <a:p>
                      <a:r>
                        <a:rPr lang="en-US" dirty="0" smtClean="0">
                          <a:latin typeface="Times New Roman" panose="02020603050405020304" pitchFamily="18" charset="0"/>
                          <a:cs typeface="Times New Roman" panose="02020603050405020304" pitchFamily="18" charset="0"/>
                        </a:rPr>
                        <a:t>Title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Authors</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Techniques</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Accuracy</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Abstract</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2758973985"/>
                  </a:ext>
                </a:extLst>
              </a:tr>
              <a:tr h="2240240">
                <a:tc>
                  <a:txBody>
                    <a:bodyPr/>
                    <a:lstStyle/>
                    <a:p>
                      <a:r>
                        <a:rPr lang="en-US" dirty="0">
                          <a:latin typeface="Times New Roman" pitchFamily="18" charset="0"/>
                          <a:cs typeface="Times New Roman" pitchFamily="18" charset="0"/>
                        </a:rPr>
                        <a:t>1</a:t>
                      </a:r>
                    </a:p>
                  </a:txBody>
                  <a:tcPr anchor="ctr"/>
                </a:tc>
                <a:tc>
                  <a:txBody>
                    <a:bodyPr/>
                    <a:lstStyle/>
                    <a:p>
                      <a:r>
                        <a:rPr lang="en-US" dirty="0">
                          <a:latin typeface="Times New Roman" pitchFamily="18" charset="0"/>
                          <a:cs typeface="Times New Roman" pitchFamily="18" charset="0"/>
                        </a:rPr>
                        <a:t>Time-series forecasting with deep learning: a survey</a:t>
                      </a:r>
                    </a:p>
                  </a:txBody>
                  <a:tcPr anchor="ctr"/>
                </a:tc>
                <a:tc>
                  <a:txBody>
                    <a:bodyPr/>
                    <a:lstStyle/>
                    <a:p>
                      <a:r>
                        <a:rPr lang="en-US" dirty="0">
                          <a:latin typeface="Times New Roman" pitchFamily="18" charset="0"/>
                          <a:cs typeface="Times New Roman" pitchFamily="18" charset="0"/>
                        </a:rPr>
                        <a:t>Bryan Lim, Stefan </a:t>
                      </a:r>
                      <a:r>
                        <a:rPr lang="en-US" dirty="0" err="1">
                          <a:latin typeface="Times New Roman" pitchFamily="18" charset="0"/>
                          <a:cs typeface="Times New Roman" pitchFamily="18" charset="0"/>
                        </a:rPr>
                        <a:t>Zohren</a:t>
                      </a:r>
                      <a:endParaRPr lang="en-US" dirty="0">
                        <a:latin typeface="Times New Roman" pitchFamily="18" charset="0"/>
                        <a:cs typeface="Times New Roman" pitchFamily="18" charset="0"/>
                      </a:endParaRPr>
                    </a:p>
                  </a:txBody>
                  <a:tcPr anchor="ctr"/>
                </a:tc>
                <a:tc>
                  <a:txBody>
                    <a:bodyPr/>
                    <a:lstStyle/>
                    <a:p>
                      <a:r>
                        <a:rPr lang="en-US" dirty="0">
                          <a:latin typeface="Times New Roman" pitchFamily="18" charset="0"/>
                          <a:cs typeface="Times New Roman" pitchFamily="18" charset="0"/>
                        </a:rPr>
                        <a:t>RNNs, LSTMs, CNNs, Transformers, Hybrid models</a:t>
                      </a:r>
                    </a:p>
                  </a:txBody>
                  <a:tcPr anchor="ctr"/>
                </a:tc>
                <a:tc>
                  <a:txBody>
                    <a:bodyPr/>
                    <a:lstStyle/>
                    <a:p>
                      <a:r>
                        <a:rPr lang="en-US" dirty="0">
                          <a:latin typeface="Times New Roman" pitchFamily="18" charset="0"/>
                          <a:cs typeface="Times New Roman" pitchFamily="18" charset="0"/>
                        </a:rPr>
                        <a:t>Not specified</a:t>
                      </a:r>
                    </a:p>
                  </a:txBody>
                  <a:tcPr anchor="ctr"/>
                </a:tc>
                <a:tc>
                  <a:txBody>
                    <a:bodyPr/>
                    <a:lstStyle/>
                    <a:p>
                      <a:r>
                        <a:rPr lang="en-US">
                          <a:latin typeface="Times New Roman" pitchFamily="18" charset="0"/>
                          <a:cs typeface="Times New Roman" pitchFamily="18" charset="0"/>
                        </a:rPr>
                        <a:t>Reviews deep learning methods for time-series forecasting, their benefits, challenges, and future directions across various domains.</a:t>
                      </a:r>
                    </a:p>
                  </a:txBody>
                  <a:tcPr anchor="ctr"/>
                </a:tc>
                <a:extLst>
                  <a:ext uri="{0D108BD9-81ED-4DB2-BD59-A6C34878D82A}">
                    <a16:rowId xmlns:a16="http://schemas.microsoft.com/office/drawing/2014/main" xmlns="" val="909331575"/>
                  </a:ext>
                </a:extLst>
              </a:tr>
              <a:tr h="370840">
                <a:tc>
                  <a:txBody>
                    <a:bodyPr/>
                    <a:lstStyle/>
                    <a:p>
                      <a:r>
                        <a:rPr lang="en-US">
                          <a:latin typeface="Times New Roman" pitchFamily="18" charset="0"/>
                          <a:cs typeface="Times New Roman" pitchFamily="18" charset="0"/>
                        </a:rPr>
                        <a:t>2</a:t>
                      </a:r>
                    </a:p>
                  </a:txBody>
                  <a:tcPr anchor="ctr"/>
                </a:tc>
                <a:tc>
                  <a:txBody>
                    <a:bodyPr/>
                    <a:lstStyle/>
                    <a:p>
                      <a:r>
                        <a:rPr lang="en-US">
                          <a:latin typeface="Times New Roman" pitchFamily="18" charset="0"/>
                          <a:cs typeface="Times New Roman" pitchFamily="18" charset="0"/>
                        </a:rPr>
                        <a:t>Electricity demand estimation using ARIMA forecasting model</a:t>
                      </a:r>
                    </a:p>
                  </a:txBody>
                  <a:tcPr anchor="ctr"/>
                </a:tc>
                <a:tc>
                  <a:txBody>
                    <a:bodyPr/>
                    <a:lstStyle/>
                    <a:p>
                      <a:r>
                        <a:rPr lang="fi-FI">
                          <a:latin typeface="Times New Roman" pitchFamily="18" charset="0"/>
                          <a:cs typeface="Times New Roman" pitchFamily="18" charset="0"/>
                        </a:rPr>
                        <a:t>S. Sharma, S. K. Mishra</a:t>
                      </a:r>
                    </a:p>
                  </a:txBody>
                  <a:tcPr anchor="ctr"/>
                </a:tc>
                <a:tc>
                  <a:txBody>
                    <a:bodyPr/>
                    <a:lstStyle/>
                    <a:p>
                      <a:r>
                        <a:rPr lang="en-US" dirty="0">
                          <a:latin typeface="Times New Roman" pitchFamily="18" charset="0"/>
                          <a:cs typeface="Times New Roman" pitchFamily="18" charset="0"/>
                        </a:rPr>
                        <a:t>ARIMA</a:t>
                      </a:r>
                    </a:p>
                  </a:txBody>
                  <a:tcPr anchor="ctr"/>
                </a:tc>
                <a:tc>
                  <a:txBody>
                    <a:bodyPr/>
                    <a:lstStyle/>
                    <a:p>
                      <a:r>
                        <a:rPr lang="en-US" dirty="0">
                          <a:latin typeface="Times New Roman" pitchFamily="18" charset="0"/>
                          <a:cs typeface="Times New Roman" pitchFamily="18" charset="0"/>
                        </a:rPr>
                        <a:t>Fairly accurate for short-term</a:t>
                      </a:r>
                    </a:p>
                  </a:txBody>
                  <a:tcPr anchor="ctr"/>
                </a:tc>
                <a:tc>
                  <a:txBody>
                    <a:bodyPr/>
                    <a:lstStyle/>
                    <a:p>
                      <a:r>
                        <a:rPr lang="en-US" dirty="0">
                          <a:latin typeface="Times New Roman" pitchFamily="18" charset="0"/>
                          <a:cs typeface="Times New Roman" pitchFamily="18" charset="0"/>
                        </a:rPr>
                        <a:t>Explores ARIMA for electricity demand forecasting, noting its strengths in linear modeling and limitations with nonlinearity.</a:t>
                      </a:r>
                    </a:p>
                  </a:txBody>
                  <a:tcPr anchor="ctr"/>
                </a:tc>
                <a:extLst>
                  <a:ext uri="{0D108BD9-81ED-4DB2-BD59-A6C34878D82A}">
                    <a16:rowId xmlns:a16="http://schemas.microsoft.com/office/drawing/2014/main" xmlns="" val="596834611"/>
                  </a:ext>
                </a:extLst>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extLst>
              <p:ext uri="{D42A27DB-BD31-4B8C-83A1-F6EECF244321}">
                <p14:modId xmlns:p14="http://schemas.microsoft.com/office/powerpoint/2010/main" xmlns="" val="2435882707"/>
              </p:ext>
            </p:extLst>
          </p:nvPr>
        </p:nvGraphicFramePr>
        <p:xfrm>
          <a:off x="107504" y="116632"/>
          <a:ext cx="8856983" cy="6399251"/>
        </p:xfrm>
        <a:graphic>
          <a:graphicData uri="http://schemas.openxmlformats.org/drawingml/2006/table">
            <a:tbl>
              <a:tblPr bandRow="1">
                <a:tableStyleId>{5C22544A-7EE6-4342-B048-85BDC9FD1C3A}</a:tableStyleId>
              </a:tblPr>
              <a:tblGrid>
                <a:gridCol w="343313">
                  <a:extLst>
                    <a:ext uri="{9D8B030D-6E8A-4147-A177-3AD203B41FA5}">
                      <a16:colId xmlns:a16="http://schemas.microsoft.com/office/drawing/2014/main" xmlns="" val="2613958242"/>
                    </a:ext>
                  </a:extLst>
                </a:gridCol>
                <a:gridCol w="1888935">
                  <a:extLst>
                    <a:ext uri="{9D8B030D-6E8A-4147-A177-3AD203B41FA5}">
                      <a16:colId xmlns:a16="http://schemas.microsoft.com/office/drawing/2014/main" xmlns="" val="4212051213"/>
                    </a:ext>
                  </a:extLst>
                </a:gridCol>
                <a:gridCol w="1047281">
                  <a:extLst>
                    <a:ext uri="{9D8B030D-6E8A-4147-A177-3AD203B41FA5}">
                      <a16:colId xmlns:a16="http://schemas.microsoft.com/office/drawing/2014/main" xmlns="" val="499553288"/>
                    </a:ext>
                  </a:extLst>
                </a:gridCol>
                <a:gridCol w="1027788">
                  <a:extLst>
                    <a:ext uri="{9D8B030D-6E8A-4147-A177-3AD203B41FA5}">
                      <a16:colId xmlns:a16="http://schemas.microsoft.com/office/drawing/2014/main" xmlns="" val="3433705840"/>
                    </a:ext>
                  </a:extLst>
                </a:gridCol>
                <a:gridCol w="1316359">
                  <a:extLst>
                    <a:ext uri="{9D8B030D-6E8A-4147-A177-3AD203B41FA5}">
                      <a16:colId xmlns:a16="http://schemas.microsoft.com/office/drawing/2014/main" xmlns="" val="108282735"/>
                    </a:ext>
                  </a:extLst>
                </a:gridCol>
                <a:gridCol w="3233307">
                  <a:extLst>
                    <a:ext uri="{9D8B030D-6E8A-4147-A177-3AD203B41FA5}">
                      <a16:colId xmlns:a16="http://schemas.microsoft.com/office/drawing/2014/main" xmlns="" val="294196869"/>
                    </a:ext>
                  </a:extLst>
                </a:gridCol>
              </a:tblGrid>
              <a:tr h="1656184">
                <a:tc>
                  <a:txBody>
                    <a:bodyPr/>
                    <a:lstStyle/>
                    <a:p>
                      <a:r>
                        <a:rPr lang="en-US" sz="1800" kern="1200" dirty="0">
                          <a:solidFill>
                            <a:schemeClr val="dk1"/>
                          </a:solidFill>
                          <a:latin typeface="Times New Roman" pitchFamily="18" charset="0"/>
                          <a:ea typeface="+mn-ea"/>
                          <a:cs typeface="Times New Roman" pitchFamily="18" charset="0"/>
                        </a:rPr>
                        <a:t>3</a:t>
                      </a:r>
                    </a:p>
                  </a:txBody>
                  <a:tcPr anchor="ctr"/>
                </a:tc>
                <a:tc>
                  <a:txBody>
                    <a:bodyPr/>
                    <a:lstStyle/>
                    <a:p>
                      <a:r>
                        <a:rPr lang="en-US" sz="1800" kern="1200" dirty="0">
                          <a:solidFill>
                            <a:schemeClr val="dk1"/>
                          </a:solidFill>
                          <a:latin typeface="Times New Roman" pitchFamily="18" charset="0"/>
                          <a:ea typeface="+mn-ea"/>
                          <a:cs typeface="Times New Roman" pitchFamily="18" charset="0"/>
                        </a:rPr>
                        <a:t>Probabilistic Forecasting of Multidimensional Time Series for Electricity Load Analysis</a:t>
                      </a:r>
                    </a:p>
                  </a:txBody>
                  <a:tcPr anchor="ctr"/>
                </a:tc>
                <a:tc>
                  <a:txBody>
                    <a:bodyPr/>
                    <a:lstStyle/>
                    <a:p>
                      <a:r>
                        <a:rPr lang="en-US" sz="1800" kern="1200" dirty="0" err="1">
                          <a:solidFill>
                            <a:schemeClr val="dk1"/>
                          </a:solidFill>
                          <a:latin typeface="Times New Roman" pitchFamily="18" charset="0"/>
                          <a:ea typeface="+mn-ea"/>
                          <a:cs typeface="Times New Roman" pitchFamily="18" charset="0"/>
                        </a:rPr>
                        <a:t>Wenxiang</a:t>
                      </a:r>
                      <a:r>
                        <a:rPr lang="en-US" sz="1800" kern="1200" dirty="0">
                          <a:solidFill>
                            <a:schemeClr val="dk1"/>
                          </a:solidFill>
                          <a:latin typeface="Times New Roman" pitchFamily="18" charset="0"/>
                          <a:ea typeface="+mn-ea"/>
                          <a:cs typeface="Times New Roman" pitchFamily="18" charset="0"/>
                        </a:rPr>
                        <a:t> Yin, </a:t>
                      </a:r>
                      <a:r>
                        <a:rPr lang="en-US" sz="1800" kern="1200" dirty="0" err="1">
                          <a:solidFill>
                            <a:schemeClr val="dk1"/>
                          </a:solidFill>
                          <a:latin typeface="Times New Roman" pitchFamily="18" charset="0"/>
                          <a:ea typeface="+mn-ea"/>
                          <a:cs typeface="Times New Roman" pitchFamily="18" charset="0"/>
                        </a:rPr>
                        <a:t>Wen</a:t>
                      </a:r>
                      <a:r>
                        <a:rPr lang="en-US" sz="1800" kern="1200" dirty="0">
                          <a:solidFill>
                            <a:schemeClr val="dk1"/>
                          </a:solidFill>
                          <a:latin typeface="Times New Roman" pitchFamily="18" charset="0"/>
                          <a:ea typeface="+mn-ea"/>
                          <a:cs typeface="Times New Roman" pitchFamily="18" charset="0"/>
                        </a:rPr>
                        <a:t> Ye, </a:t>
                      </a:r>
                      <a:r>
                        <a:rPr lang="en-US" sz="1800" kern="1200" dirty="0" err="1">
                          <a:solidFill>
                            <a:schemeClr val="dk1"/>
                          </a:solidFill>
                          <a:latin typeface="Times New Roman" pitchFamily="18" charset="0"/>
                          <a:ea typeface="+mn-ea"/>
                          <a:cs typeface="Times New Roman" pitchFamily="18" charset="0"/>
                        </a:rPr>
                        <a:t>Guang</a:t>
                      </a:r>
                      <a:r>
                        <a:rPr lang="en-US" sz="1800" kern="1200" dirty="0">
                          <a:solidFill>
                            <a:schemeClr val="dk1"/>
                          </a:solidFill>
                          <a:latin typeface="Times New Roman" pitchFamily="18" charset="0"/>
                          <a:ea typeface="+mn-ea"/>
                          <a:cs typeface="Times New Roman" pitchFamily="18" charset="0"/>
                        </a:rPr>
                        <a:t> Liu</a:t>
                      </a:r>
                    </a:p>
                  </a:txBody>
                  <a:tcPr anchor="ctr"/>
                </a:tc>
                <a:tc>
                  <a:txBody>
                    <a:bodyPr/>
                    <a:lstStyle/>
                    <a:p>
                      <a:r>
                        <a:rPr lang="en-US" sz="1800" kern="1200" dirty="0">
                          <a:solidFill>
                            <a:schemeClr val="dk1"/>
                          </a:solidFill>
                          <a:latin typeface="Times New Roman" pitchFamily="18" charset="0"/>
                          <a:ea typeface="+mn-ea"/>
                          <a:cs typeface="Times New Roman" pitchFamily="18" charset="0"/>
                        </a:rPr>
                        <a:t>Probabilistic forecasting</a:t>
                      </a:r>
                    </a:p>
                  </a:txBody>
                  <a:tcPr anchor="ctr"/>
                </a:tc>
                <a:tc>
                  <a:txBody>
                    <a:bodyPr/>
                    <a:lstStyle/>
                    <a:p>
                      <a:r>
                        <a:rPr lang="en-US" sz="1800" kern="1200" dirty="0">
                          <a:solidFill>
                            <a:schemeClr val="dk1"/>
                          </a:solidFill>
                          <a:latin typeface="Times New Roman" pitchFamily="18" charset="0"/>
                          <a:ea typeface="+mn-ea"/>
                          <a:cs typeface="Times New Roman" pitchFamily="18" charset="0"/>
                        </a:rPr>
                        <a:t>High accuracy &amp; robustness</a:t>
                      </a:r>
                    </a:p>
                  </a:txBody>
                  <a:tcPr anchor="ctr"/>
                </a:tc>
                <a:tc>
                  <a:txBody>
                    <a:bodyPr/>
                    <a:lstStyle/>
                    <a:p>
                      <a:r>
                        <a:rPr lang="en-US" sz="1800" kern="1200">
                          <a:solidFill>
                            <a:schemeClr val="dk1"/>
                          </a:solidFill>
                          <a:latin typeface="Times New Roman" pitchFamily="18" charset="0"/>
                          <a:ea typeface="+mn-ea"/>
                          <a:cs typeface="Times New Roman" pitchFamily="18" charset="0"/>
                        </a:rPr>
                        <a:t>Uses probabilistic models to capture uncertainty and improve forecasting accuracy for complex electricity load data.</a:t>
                      </a:r>
                    </a:p>
                  </a:txBody>
                  <a:tcPr anchor="ctr"/>
                </a:tc>
                <a:extLst>
                  <a:ext uri="{0D108BD9-81ED-4DB2-BD59-A6C34878D82A}">
                    <a16:rowId xmlns:a16="http://schemas.microsoft.com/office/drawing/2014/main" xmlns="" val="726580199"/>
                  </a:ext>
                </a:extLst>
              </a:tr>
              <a:tr h="1393980">
                <a:tc>
                  <a:txBody>
                    <a:bodyPr/>
                    <a:lstStyle/>
                    <a:p>
                      <a:r>
                        <a:rPr lang="en-US" sz="1800" kern="1200">
                          <a:solidFill>
                            <a:schemeClr val="dk1"/>
                          </a:solidFill>
                          <a:latin typeface="Times New Roman" pitchFamily="18" charset="0"/>
                          <a:ea typeface="+mn-ea"/>
                          <a:cs typeface="Times New Roman" pitchFamily="18" charset="0"/>
                        </a:rPr>
                        <a:t>4</a:t>
                      </a:r>
                    </a:p>
                  </a:txBody>
                  <a:tcPr anchor="ctr"/>
                </a:tc>
                <a:tc>
                  <a:txBody>
                    <a:bodyPr/>
                    <a:lstStyle/>
                    <a:p>
                      <a:r>
                        <a:rPr lang="en-US" sz="1800" kern="1200">
                          <a:solidFill>
                            <a:schemeClr val="dk1"/>
                          </a:solidFill>
                          <a:latin typeface="Times New Roman" pitchFamily="18" charset="0"/>
                          <a:ea typeface="+mn-ea"/>
                          <a:cs typeface="Times New Roman" pitchFamily="18" charset="0"/>
                        </a:rPr>
                        <a:t>ARIMA Forecasting of Enterprise Electric Energy Consumption</a:t>
                      </a:r>
                    </a:p>
                  </a:txBody>
                  <a:tcPr anchor="ctr"/>
                </a:tc>
                <a:tc>
                  <a:txBody>
                    <a:bodyPr/>
                    <a:lstStyle/>
                    <a:p>
                      <a:r>
                        <a:rPr lang="en-US" sz="1800" kern="1200" dirty="0" err="1">
                          <a:solidFill>
                            <a:schemeClr val="dk1"/>
                          </a:solidFill>
                          <a:latin typeface="Times New Roman" pitchFamily="18" charset="0"/>
                          <a:ea typeface="+mn-ea"/>
                          <a:cs typeface="Times New Roman" pitchFamily="18" charset="0"/>
                        </a:rPr>
                        <a:t>Yizhuo</a:t>
                      </a:r>
                      <a:r>
                        <a:rPr lang="en-US" sz="1800" kern="1200" dirty="0">
                          <a:solidFill>
                            <a:schemeClr val="dk1"/>
                          </a:solidFill>
                          <a:latin typeface="Times New Roman" pitchFamily="18" charset="0"/>
                          <a:ea typeface="+mn-ea"/>
                          <a:cs typeface="Times New Roman" pitchFamily="18" charset="0"/>
                        </a:rPr>
                        <a:t> Liu, </a:t>
                      </a:r>
                      <a:r>
                        <a:rPr lang="en-US" sz="1800" kern="1200" dirty="0" err="1">
                          <a:solidFill>
                            <a:schemeClr val="dk1"/>
                          </a:solidFill>
                          <a:latin typeface="Times New Roman" pitchFamily="18" charset="0"/>
                          <a:ea typeface="+mn-ea"/>
                          <a:cs typeface="Times New Roman" pitchFamily="18" charset="0"/>
                        </a:rPr>
                        <a:t>Weijia</a:t>
                      </a:r>
                      <a:r>
                        <a:rPr lang="en-US" sz="1800" kern="1200" dirty="0">
                          <a:solidFill>
                            <a:schemeClr val="dk1"/>
                          </a:solidFill>
                          <a:latin typeface="Times New Roman" pitchFamily="18" charset="0"/>
                          <a:ea typeface="+mn-ea"/>
                          <a:cs typeface="Times New Roman" pitchFamily="18" charset="0"/>
                        </a:rPr>
                        <a:t> Sun</a:t>
                      </a:r>
                    </a:p>
                  </a:txBody>
                  <a:tcPr anchor="ctr"/>
                </a:tc>
                <a:tc>
                  <a:txBody>
                    <a:bodyPr/>
                    <a:lstStyle/>
                    <a:p>
                      <a:r>
                        <a:rPr lang="en-US" sz="1800" kern="1200" dirty="0">
                          <a:solidFill>
                            <a:schemeClr val="dk1"/>
                          </a:solidFill>
                          <a:latin typeface="Times New Roman" pitchFamily="18" charset="0"/>
                          <a:ea typeface="+mn-ea"/>
                          <a:cs typeface="Times New Roman" pitchFamily="18" charset="0"/>
                        </a:rPr>
                        <a:t>ARIMA</a:t>
                      </a:r>
                    </a:p>
                  </a:txBody>
                  <a:tcPr anchor="ctr"/>
                </a:tc>
                <a:tc>
                  <a:txBody>
                    <a:bodyPr/>
                    <a:lstStyle/>
                    <a:p>
                      <a:r>
                        <a:rPr lang="en-US" sz="1800" kern="1200" dirty="0">
                          <a:solidFill>
                            <a:schemeClr val="dk1"/>
                          </a:solidFill>
                          <a:latin typeface="Times New Roman" pitchFamily="18" charset="0"/>
                          <a:ea typeface="+mn-ea"/>
                          <a:cs typeface="Times New Roman" pitchFamily="18" charset="0"/>
                        </a:rPr>
                        <a:t>Accurate for short-term</a:t>
                      </a:r>
                    </a:p>
                  </a:txBody>
                  <a:tcPr anchor="ctr"/>
                </a:tc>
                <a:tc>
                  <a:txBody>
                    <a:bodyPr/>
                    <a:lstStyle/>
                    <a:p>
                      <a:r>
                        <a:rPr lang="en-US" sz="1800" kern="1200" dirty="0">
                          <a:solidFill>
                            <a:schemeClr val="dk1"/>
                          </a:solidFill>
                          <a:latin typeface="Times New Roman" pitchFamily="18" charset="0"/>
                          <a:ea typeface="+mn-ea"/>
                          <a:cs typeface="Times New Roman" pitchFamily="18" charset="0"/>
                        </a:rPr>
                        <a:t>Applies ARIMA to enterprise energy use, showing good short-term performance but limited handling of complex patterns.</a:t>
                      </a:r>
                    </a:p>
                  </a:txBody>
                  <a:tcPr anchor="ctr"/>
                </a:tc>
                <a:extLst>
                  <a:ext uri="{0D108BD9-81ED-4DB2-BD59-A6C34878D82A}">
                    <a16:rowId xmlns:a16="http://schemas.microsoft.com/office/drawing/2014/main" xmlns="" val="1047644737"/>
                  </a:ext>
                </a:extLst>
              </a:tr>
              <a:tr h="1461491">
                <a:tc>
                  <a:txBody>
                    <a:bodyPr/>
                    <a:lstStyle/>
                    <a:p>
                      <a:r>
                        <a:rPr lang="en-US" sz="1800" kern="1200">
                          <a:solidFill>
                            <a:schemeClr val="dk1"/>
                          </a:solidFill>
                          <a:latin typeface="Times New Roman" pitchFamily="18" charset="0"/>
                          <a:ea typeface="+mn-ea"/>
                          <a:cs typeface="Times New Roman" pitchFamily="18" charset="0"/>
                        </a:rPr>
                        <a:t>5</a:t>
                      </a:r>
                    </a:p>
                  </a:txBody>
                  <a:tcPr anchor="ctr"/>
                </a:tc>
                <a:tc>
                  <a:txBody>
                    <a:bodyPr/>
                    <a:lstStyle/>
                    <a:p>
                      <a:r>
                        <a:rPr lang="en-US" sz="1800" kern="1200">
                          <a:solidFill>
                            <a:schemeClr val="dk1"/>
                          </a:solidFill>
                          <a:latin typeface="Times New Roman" pitchFamily="18" charset="0"/>
                          <a:ea typeface="+mn-ea"/>
                          <a:cs typeface="Times New Roman" pitchFamily="18" charset="0"/>
                        </a:rPr>
                        <a:t>Charging Load Forecasting of EVs Based on VMD-SSA-SVR</a:t>
                      </a:r>
                    </a:p>
                  </a:txBody>
                  <a:tcPr anchor="ctr"/>
                </a:tc>
                <a:tc>
                  <a:txBody>
                    <a:bodyPr/>
                    <a:lstStyle/>
                    <a:p>
                      <a:r>
                        <a:rPr lang="nl-NL" sz="1800" kern="1200">
                          <a:solidFill>
                            <a:schemeClr val="dk1"/>
                          </a:solidFill>
                          <a:latin typeface="Times New Roman" pitchFamily="18" charset="0"/>
                          <a:ea typeface="+mn-ea"/>
                          <a:cs typeface="Times New Roman" pitchFamily="18" charset="0"/>
                        </a:rPr>
                        <a:t>Y. Wu, P. Cong, Y. Wang</a:t>
                      </a:r>
                    </a:p>
                  </a:txBody>
                  <a:tcPr anchor="ctr"/>
                </a:tc>
                <a:tc>
                  <a:txBody>
                    <a:bodyPr/>
                    <a:lstStyle/>
                    <a:p>
                      <a:r>
                        <a:rPr lang="en-US" sz="1800" kern="1200" dirty="0">
                          <a:solidFill>
                            <a:schemeClr val="dk1"/>
                          </a:solidFill>
                          <a:latin typeface="Times New Roman" pitchFamily="18" charset="0"/>
                          <a:ea typeface="+mn-ea"/>
                          <a:cs typeface="Times New Roman" pitchFamily="18" charset="0"/>
                        </a:rPr>
                        <a:t>VMD + SSA + SVR</a:t>
                      </a:r>
                    </a:p>
                  </a:txBody>
                  <a:tcPr anchor="ctr"/>
                </a:tc>
                <a:tc>
                  <a:txBody>
                    <a:bodyPr/>
                    <a:lstStyle/>
                    <a:p>
                      <a:r>
                        <a:rPr lang="en-US" sz="1800" kern="1200">
                          <a:solidFill>
                            <a:schemeClr val="dk1"/>
                          </a:solidFill>
                          <a:latin typeface="Times New Roman" pitchFamily="18" charset="0"/>
                          <a:ea typeface="+mn-ea"/>
                          <a:cs typeface="Times New Roman" pitchFamily="18" charset="0"/>
                        </a:rPr>
                        <a:t>Better than conventional models</a:t>
                      </a:r>
                    </a:p>
                  </a:txBody>
                  <a:tcPr anchor="ctr"/>
                </a:tc>
                <a:tc>
                  <a:txBody>
                    <a:bodyPr/>
                    <a:lstStyle/>
                    <a:p>
                      <a:r>
                        <a:rPr lang="en-US" sz="1800" kern="1200" dirty="0">
                          <a:solidFill>
                            <a:schemeClr val="dk1"/>
                          </a:solidFill>
                          <a:latin typeface="Times New Roman" pitchFamily="18" charset="0"/>
                          <a:ea typeface="+mn-ea"/>
                          <a:cs typeface="Times New Roman" pitchFamily="18" charset="0"/>
                        </a:rPr>
                        <a:t>Introduces a hybrid method for EV load forecasting that effectively manages nonlinearity and volatility in time-series data.</a:t>
                      </a:r>
                    </a:p>
                  </a:txBody>
                  <a:tcPr anchor="ctr"/>
                </a:tc>
                <a:extLst>
                  <a:ext uri="{0D108BD9-81ED-4DB2-BD59-A6C34878D82A}">
                    <a16:rowId xmlns:a16="http://schemas.microsoft.com/office/drawing/2014/main" xmlns="" val="168824729"/>
                  </a:ext>
                </a:extLst>
              </a:tr>
              <a:tr h="1681865">
                <a:tc>
                  <a:txBody>
                    <a:bodyPr/>
                    <a:lstStyle/>
                    <a:p>
                      <a:r>
                        <a:rPr lang="en-US" sz="1800" kern="1200" dirty="0">
                          <a:solidFill>
                            <a:schemeClr val="dk1"/>
                          </a:solidFill>
                          <a:latin typeface="Times New Roman" pitchFamily="18" charset="0"/>
                          <a:ea typeface="+mn-ea"/>
                          <a:cs typeface="Times New Roman" pitchFamily="18" charset="0"/>
                        </a:rPr>
                        <a:t>6</a:t>
                      </a:r>
                    </a:p>
                  </a:txBody>
                  <a:tcPr anchor="ctr"/>
                </a:tc>
                <a:tc>
                  <a:txBody>
                    <a:bodyPr/>
                    <a:lstStyle/>
                    <a:p>
                      <a:r>
                        <a:rPr lang="en-US" sz="1800" kern="1200" dirty="0">
                          <a:solidFill>
                            <a:schemeClr val="dk1"/>
                          </a:solidFill>
                          <a:latin typeface="Times New Roman" pitchFamily="18" charset="0"/>
                          <a:ea typeface="+mn-ea"/>
                          <a:cs typeface="Times New Roman" pitchFamily="18" charset="0"/>
                        </a:rPr>
                        <a:t>EV Charging Load Forecasting via Hybrid Intelligence</a:t>
                      </a:r>
                    </a:p>
                  </a:txBody>
                  <a:tcPr anchor="ctr"/>
                </a:tc>
                <a:tc>
                  <a:txBody>
                    <a:bodyPr/>
                    <a:lstStyle/>
                    <a:p>
                      <a:r>
                        <a:rPr lang="en-US" sz="1800" kern="1200">
                          <a:solidFill>
                            <a:schemeClr val="dk1"/>
                          </a:solidFill>
                          <a:latin typeface="Times New Roman" pitchFamily="18" charset="0"/>
                          <a:ea typeface="+mn-ea"/>
                          <a:cs typeface="Times New Roman" pitchFamily="18" charset="0"/>
                        </a:rPr>
                        <a:t>S. Deng, J. Wang, L. Tao, S. Zhang, H. Sun</a:t>
                      </a:r>
                    </a:p>
                  </a:txBody>
                  <a:tcPr anchor="ctr"/>
                </a:tc>
                <a:tc>
                  <a:txBody>
                    <a:bodyPr/>
                    <a:lstStyle/>
                    <a:p>
                      <a:r>
                        <a:rPr lang="en-US" sz="1800" kern="1200" dirty="0">
                          <a:solidFill>
                            <a:schemeClr val="dk1"/>
                          </a:solidFill>
                          <a:latin typeface="Times New Roman" pitchFamily="18" charset="0"/>
                          <a:ea typeface="+mn-ea"/>
                          <a:cs typeface="Times New Roman" pitchFamily="18" charset="0"/>
                        </a:rPr>
                        <a:t>Hybrid intelligent algorithm</a:t>
                      </a:r>
                    </a:p>
                  </a:txBody>
                  <a:tcPr anchor="ctr"/>
                </a:tc>
                <a:tc>
                  <a:txBody>
                    <a:bodyPr/>
                    <a:lstStyle/>
                    <a:p>
                      <a:r>
                        <a:rPr lang="en-US" sz="1800" kern="1200">
                          <a:solidFill>
                            <a:schemeClr val="dk1"/>
                          </a:solidFill>
                          <a:latin typeface="Times New Roman" pitchFamily="18" charset="0"/>
                          <a:ea typeface="+mn-ea"/>
                          <a:cs typeface="Times New Roman" pitchFamily="18" charset="0"/>
                        </a:rPr>
                        <a:t>Enhanced predictive accuracy</a:t>
                      </a:r>
                    </a:p>
                  </a:txBody>
                  <a:tcPr anchor="ctr"/>
                </a:tc>
                <a:tc>
                  <a:txBody>
                    <a:bodyPr/>
                    <a:lstStyle/>
                    <a:p>
                      <a:r>
                        <a:rPr lang="en-US" sz="1800" kern="1200" dirty="0">
                          <a:solidFill>
                            <a:schemeClr val="dk1"/>
                          </a:solidFill>
                          <a:latin typeface="Times New Roman" pitchFamily="18" charset="0"/>
                          <a:ea typeface="+mn-ea"/>
                          <a:cs typeface="Times New Roman" pitchFamily="18" charset="0"/>
                        </a:rPr>
                        <a:t>Proposes an adaptive hybrid system for EV charging prediction, offering flexibility and improved accuracy for smart grid applications.</a:t>
                      </a:r>
                    </a:p>
                  </a:txBody>
                  <a:tcPr anchor="ctr"/>
                </a:tc>
                <a:extLst>
                  <a:ext uri="{0D108BD9-81ED-4DB2-BD59-A6C34878D82A}">
                    <a16:rowId xmlns:a16="http://schemas.microsoft.com/office/drawing/2014/main" xmlns="" val="426631734"/>
                  </a:ext>
                </a:extLst>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xmlns="" val="1544374267"/>
              </p:ext>
            </p:extLst>
          </p:nvPr>
        </p:nvGraphicFramePr>
        <p:xfrm>
          <a:off x="492442" y="305547"/>
          <a:ext cx="8400036" cy="6075781"/>
        </p:xfrm>
        <a:graphic>
          <a:graphicData uri="http://schemas.openxmlformats.org/drawingml/2006/table">
            <a:tbl>
              <a:tblPr bandRow="1">
                <a:tableStyleId>{5C22544A-7EE6-4342-B048-85BDC9FD1C3A}</a:tableStyleId>
              </a:tblPr>
              <a:tblGrid>
                <a:gridCol w="623174">
                  <a:extLst>
                    <a:ext uri="{9D8B030D-6E8A-4147-A177-3AD203B41FA5}">
                      <a16:colId xmlns:a16="http://schemas.microsoft.com/office/drawing/2014/main" xmlns="" val="4091408493"/>
                    </a:ext>
                  </a:extLst>
                </a:gridCol>
                <a:gridCol w="1800200">
                  <a:extLst>
                    <a:ext uri="{9D8B030D-6E8A-4147-A177-3AD203B41FA5}">
                      <a16:colId xmlns:a16="http://schemas.microsoft.com/office/drawing/2014/main" xmlns="" val="2827380747"/>
                    </a:ext>
                  </a:extLst>
                </a:gridCol>
                <a:gridCol w="1512168">
                  <a:extLst>
                    <a:ext uri="{9D8B030D-6E8A-4147-A177-3AD203B41FA5}">
                      <a16:colId xmlns:a16="http://schemas.microsoft.com/office/drawing/2014/main" xmlns="" val="100769430"/>
                    </a:ext>
                  </a:extLst>
                </a:gridCol>
                <a:gridCol w="1080120">
                  <a:extLst>
                    <a:ext uri="{9D8B030D-6E8A-4147-A177-3AD203B41FA5}">
                      <a16:colId xmlns:a16="http://schemas.microsoft.com/office/drawing/2014/main" xmlns="" val="3474553204"/>
                    </a:ext>
                  </a:extLst>
                </a:gridCol>
                <a:gridCol w="1008112">
                  <a:extLst>
                    <a:ext uri="{9D8B030D-6E8A-4147-A177-3AD203B41FA5}">
                      <a16:colId xmlns:a16="http://schemas.microsoft.com/office/drawing/2014/main" xmlns="" val="3558545156"/>
                    </a:ext>
                  </a:extLst>
                </a:gridCol>
                <a:gridCol w="2376262">
                  <a:extLst>
                    <a:ext uri="{9D8B030D-6E8A-4147-A177-3AD203B41FA5}">
                      <a16:colId xmlns:a16="http://schemas.microsoft.com/office/drawing/2014/main" xmlns="" val="3592060602"/>
                    </a:ext>
                  </a:extLst>
                </a:gridCol>
              </a:tblGrid>
              <a:tr h="2545260">
                <a:tc>
                  <a:txBody>
                    <a:bodyPr/>
                    <a:lstStyle/>
                    <a:p>
                      <a:r>
                        <a:rPr lang="en-US" sz="1800" kern="1200" dirty="0">
                          <a:solidFill>
                            <a:schemeClr val="dk1"/>
                          </a:solidFill>
                          <a:latin typeface="Times New Roman" pitchFamily="18" charset="0"/>
                          <a:ea typeface="+mn-ea"/>
                          <a:cs typeface="Times New Roman" pitchFamily="18" charset="0"/>
                        </a:rPr>
                        <a:t>7</a:t>
                      </a:r>
                    </a:p>
                  </a:txBody>
                  <a:tcPr anchor="ctr"/>
                </a:tc>
                <a:tc>
                  <a:txBody>
                    <a:bodyPr/>
                    <a:lstStyle/>
                    <a:p>
                      <a:r>
                        <a:rPr lang="en-US" sz="1800" kern="1200" dirty="0">
                          <a:solidFill>
                            <a:schemeClr val="dk1"/>
                          </a:solidFill>
                          <a:latin typeface="Times New Roman" pitchFamily="18" charset="0"/>
                          <a:ea typeface="+mn-ea"/>
                          <a:cs typeface="Times New Roman" pitchFamily="18" charset="0"/>
                        </a:rPr>
                        <a:t>Algorithms in Advanced Artificial Intelligence - Proceedings of ICAAAI-2024</a:t>
                      </a:r>
                    </a:p>
                  </a:txBody>
                  <a:tcPr anchor="ctr"/>
                </a:tc>
                <a:tc>
                  <a:txBody>
                    <a:bodyPr/>
                    <a:lstStyle/>
                    <a:p>
                      <a:r>
                        <a:rPr lang="sv-SE" sz="1800" kern="1200" dirty="0">
                          <a:solidFill>
                            <a:schemeClr val="dk1"/>
                          </a:solidFill>
                          <a:latin typeface="Times New Roman" pitchFamily="18" charset="0"/>
                          <a:ea typeface="+mn-ea"/>
                          <a:cs typeface="Times New Roman" pitchFamily="18" charset="0"/>
                        </a:rPr>
                        <a:t>R. N. V. Jagan Mohan, B. H. V. S. Raju, V. C. Sekhar, T. V. K. P. Prasad</a:t>
                      </a:r>
                    </a:p>
                  </a:txBody>
                  <a:tcPr anchor="ctr"/>
                </a:tc>
                <a:tc>
                  <a:txBody>
                    <a:bodyPr/>
                    <a:lstStyle/>
                    <a:p>
                      <a:r>
                        <a:rPr lang="en-US" sz="1800" kern="1200">
                          <a:solidFill>
                            <a:schemeClr val="dk1"/>
                          </a:solidFill>
                          <a:latin typeface="Times New Roman" pitchFamily="18" charset="0"/>
                          <a:ea typeface="+mn-ea"/>
                          <a:cs typeface="Times New Roman" pitchFamily="18" charset="0"/>
                        </a:rPr>
                        <a:t>Various AI algorithms</a:t>
                      </a:r>
                    </a:p>
                  </a:txBody>
                  <a:tcPr anchor="ctr"/>
                </a:tc>
                <a:tc>
                  <a:txBody>
                    <a:bodyPr/>
                    <a:lstStyle/>
                    <a:p>
                      <a:r>
                        <a:rPr lang="en-US" sz="1800" kern="1200">
                          <a:solidFill>
                            <a:schemeClr val="dk1"/>
                          </a:solidFill>
                          <a:latin typeface="Times New Roman" pitchFamily="18" charset="0"/>
                          <a:ea typeface="+mn-ea"/>
                          <a:cs typeface="Times New Roman" pitchFamily="18" charset="0"/>
                        </a:rPr>
                        <a:t>Varies by paper</a:t>
                      </a:r>
                    </a:p>
                  </a:txBody>
                  <a:tcPr anchor="ctr"/>
                </a:tc>
                <a:tc>
                  <a:txBody>
                    <a:bodyPr/>
                    <a:lstStyle/>
                    <a:p>
                      <a:r>
                        <a:rPr lang="en-US" sz="1800" kern="1200">
                          <a:solidFill>
                            <a:schemeClr val="dk1"/>
                          </a:solidFill>
                          <a:latin typeface="Times New Roman" pitchFamily="18" charset="0"/>
                          <a:ea typeface="+mn-ea"/>
                          <a:cs typeface="Times New Roman" pitchFamily="18" charset="0"/>
                        </a:rPr>
                        <a:t>Conference proceedings covering recent AI algorithm advances with applications in various fields.</a:t>
                      </a:r>
                    </a:p>
                  </a:txBody>
                  <a:tcPr anchor="ctr"/>
                </a:tc>
                <a:extLst>
                  <a:ext uri="{0D108BD9-81ED-4DB2-BD59-A6C34878D82A}">
                    <a16:rowId xmlns:a16="http://schemas.microsoft.com/office/drawing/2014/main" xmlns="" val="609835744"/>
                  </a:ext>
                </a:extLst>
              </a:tr>
              <a:tr h="3530521">
                <a:tc>
                  <a:txBody>
                    <a:bodyPr/>
                    <a:lstStyle/>
                    <a:p>
                      <a:r>
                        <a:rPr lang="en-US" sz="1800" kern="1200">
                          <a:solidFill>
                            <a:schemeClr val="dk1"/>
                          </a:solidFill>
                          <a:latin typeface="Times New Roman" pitchFamily="18" charset="0"/>
                          <a:ea typeface="+mn-ea"/>
                          <a:cs typeface="Times New Roman" pitchFamily="18" charset="0"/>
                        </a:rPr>
                        <a:t>8</a:t>
                      </a:r>
                    </a:p>
                  </a:txBody>
                  <a:tcPr anchor="ctr"/>
                </a:tc>
                <a:tc>
                  <a:txBody>
                    <a:bodyPr/>
                    <a:lstStyle/>
                    <a:p>
                      <a:r>
                        <a:rPr lang="en-US" sz="1800" kern="1200">
                          <a:solidFill>
                            <a:schemeClr val="dk1"/>
                          </a:solidFill>
                          <a:latin typeface="Times New Roman" pitchFamily="18" charset="0"/>
                          <a:ea typeface="+mn-ea"/>
                          <a:cs typeface="Times New Roman" pitchFamily="18" charset="0"/>
                        </a:rPr>
                        <a:t>Temporal Energy Consumption Exploration and Time Series Forecasting of Electricity Dynamics</a:t>
                      </a:r>
                    </a:p>
                  </a:txBody>
                  <a:tcPr anchor="ctr"/>
                </a:tc>
                <a:tc>
                  <a:txBody>
                    <a:bodyPr/>
                    <a:lstStyle/>
                    <a:p>
                      <a:r>
                        <a:rPr lang="en-US" sz="1800" kern="1200" dirty="0" err="1" smtClean="0">
                          <a:solidFill>
                            <a:schemeClr val="dk1"/>
                          </a:solidFill>
                          <a:latin typeface="Times New Roman" pitchFamily="18" charset="0"/>
                          <a:ea typeface="+mn-ea"/>
                          <a:cs typeface="Times New Roman" pitchFamily="18" charset="0"/>
                        </a:rPr>
                        <a:t>Deepali</a:t>
                      </a:r>
                      <a:r>
                        <a:rPr lang="en-US" sz="1800" kern="1200" dirty="0" smtClean="0">
                          <a:solidFill>
                            <a:schemeClr val="dk1"/>
                          </a:solidFill>
                          <a:latin typeface="Times New Roman" pitchFamily="18" charset="0"/>
                          <a:ea typeface="+mn-ea"/>
                          <a:cs typeface="Times New Roman" pitchFamily="18" charset="0"/>
                        </a:rPr>
                        <a:t> </a:t>
                      </a:r>
                      <a:r>
                        <a:rPr lang="en-US" sz="1800" kern="1200" dirty="0" err="1" smtClean="0">
                          <a:solidFill>
                            <a:schemeClr val="dk1"/>
                          </a:solidFill>
                          <a:latin typeface="Times New Roman" pitchFamily="18" charset="0"/>
                          <a:ea typeface="+mn-ea"/>
                          <a:cs typeface="Times New Roman" pitchFamily="18" charset="0"/>
                        </a:rPr>
                        <a:t>Vora</a:t>
                      </a:r>
                      <a:r>
                        <a:rPr lang="en-US" sz="1800" kern="1200" dirty="0" smtClean="0">
                          <a:solidFill>
                            <a:schemeClr val="dk1"/>
                          </a:solidFill>
                          <a:latin typeface="Times New Roman" pitchFamily="18" charset="0"/>
                          <a:ea typeface="+mn-ea"/>
                          <a:cs typeface="Times New Roman" pitchFamily="18" charset="0"/>
                        </a:rPr>
                        <a:t>; </a:t>
                      </a:r>
                      <a:r>
                        <a:rPr lang="en-US" sz="1800" kern="1200" dirty="0" err="1" smtClean="0">
                          <a:solidFill>
                            <a:schemeClr val="dk1"/>
                          </a:solidFill>
                          <a:latin typeface="Times New Roman" pitchFamily="18" charset="0"/>
                          <a:ea typeface="+mn-ea"/>
                          <a:cs typeface="Times New Roman" pitchFamily="18" charset="0"/>
                        </a:rPr>
                        <a:t>Nilima</a:t>
                      </a:r>
                      <a:r>
                        <a:rPr lang="en-US" sz="1800" kern="1200" dirty="0" smtClean="0">
                          <a:solidFill>
                            <a:schemeClr val="dk1"/>
                          </a:solidFill>
                          <a:latin typeface="Times New Roman" pitchFamily="18" charset="0"/>
                          <a:ea typeface="+mn-ea"/>
                          <a:cs typeface="Times New Roman" pitchFamily="18" charset="0"/>
                        </a:rPr>
                        <a:t> </a:t>
                      </a:r>
                      <a:r>
                        <a:rPr lang="en-US" sz="1800" kern="1200" dirty="0" err="1" smtClean="0">
                          <a:solidFill>
                            <a:schemeClr val="dk1"/>
                          </a:solidFill>
                          <a:latin typeface="Times New Roman" pitchFamily="18" charset="0"/>
                          <a:ea typeface="+mn-ea"/>
                          <a:cs typeface="Times New Roman" pitchFamily="18" charset="0"/>
                        </a:rPr>
                        <a:t>Zade</a:t>
                      </a:r>
                      <a:r>
                        <a:rPr lang="en-US" sz="1800" kern="1200" dirty="0" smtClean="0">
                          <a:solidFill>
                            <a:schemeClr val="dk1"/>
                          </a:solidFill>
                          <a:latin typeface="Times New Roman" pitchFamily="18" charset="0"/>
                          <a:ea typeface="+mn-ea"/>
                          <a:cs typeface="Times New Roman" pitchFamily="18" charset="0"/>
                        </a:rPr>
                        <a:t>; </a:t>
                      </a:r>
                      <a:r>
                        <a:rPr lang="en-US" sz="1800" kern="1200" dirty="0" err="1" smtClean="0">
                          <a:solidFill>
                            <a:schemeClr val="dk1"/>
                          </a:solidFill>
                          <a:latin typeface="Times New Roman" pitchFamily="18" charset="0"/>
                          <a:ea typeface="+mn-ea"/>
                          <a:cs typeface="Times New Roman" pitchFamily="18" charset="0"/>
                        </a:rPr>
                        <a:t>Pransh</a:t>
                      </a:r>
                      <a:r>
                        <a:rPr lang="en-US" sz="1800" kern="1200" dirty="0" smtClean="0">
                          <a:solidFill>
                            <a:schemeClr val="dk1"/>
                          </a:solidFill>
                          <a:latin typeface="Times New Roman" pitchFamily="18" charset="0"/>
                          <a:ea typeface="+mn-ea"/>
                          <a:cs typeface="Times New Roman" pitchFamily="18" charset="0"/>
                        </a:rPr>
                        <a:t> </a:t>
                      </a:r>
                      <a:r>
                        <a:rPr lang="en-US" sz="1800" kern="1200" dirty="0" err="1" smtClean="0">
                          <a:solidFill>
                            <a:schemeClr val="dk1"/>
                          </a:solidFill>
                          <a:latin typeface="Times New Roman" pitchFamily="18" charset="0"/>
                          <a:ea typeface="+mn-ea"/>
                          <a:cs typeface="Times New Roman" pitchFamily="18" charset="0"/>
                        </a:rPr>
                        <a:t>Patwa</a:t>
                      </a:r>
                      <a:r>
                        <a:rPr lang="en-US" sz="1800" kern="1200" dirty="0" smtClean="0">
                          <a:solidFill>
                            <a:schemeClr val="dk1"/>
                          </a:solidFill>
                          <a:latin typeface="Times New Roman" pitchFamily="18" charset="0"/>
                          <a:ea typeface="+mn-ea"/>
                          <a:cs typeface="Times New Roman" pitchFamily="18" charset="0"/>
                        </a:rPr>
                        <a:t>; </a:t>
                      </a:r>
                      <a:r>
                        <a:rPr lang="en-US" sz="1800" kern="1200" dirty="0" err="1" smtClean="0">
                          <a:solidFill>
                            <a:schemeClr val="dk1"/>
                          </a:solidFill>
                          <a:latin typeface="Times New Roman" pitchFamily="18" charset="0"/>
                          <a:ea typeface="+mn-ea"/>
                          <a:cs typeface="Times New Roman" pitchFamily="18" charset="0"/>
                        </a:rPr>
                        <a:t>Akshay</a:t>
                      </a:r>
                      <a:r>
                        <a:rPr lang="en-US" sz="1800" kern="1200" dirty="0" smtClean="0">
                          <a:solidFill>
                            <a:schemeClr val="dk1"/>
                          </a:solidFill>
                          <a:latin typeface="Times New Roman" pitchFamily="18" charset="0"/>
                          <a:ea typeface="+mn-ea"/>
                          <a:cs typeface="Times New Roman" pitchFamily="18" charset="0"/>
                        </a:rPr>
                        <a:t> </a:t>
                      </a:r>
                      <a:r>
                        <a:rPr lang="en-US" sz="1800" kern="1200" dirty="0" err="1" smtClean="0">
                          <a:solidFill>
                            <a:schemeClr val="dk1"/>
                          </a:solidFill>
                          <a:latin typeface="Times New Roman" pitchFamily="18" charset="0"/>
                          <a:ea typeface="+mn-ea"/>
                          <a:cs typeface="Times New Roman" pitchFamily="18" charset="0"/>
                        </a:rPr>
                        <a:t>Kushwaha</a:t>
                      </a:r>
                      <a:r>
                        <a:rPr lang="en-US" sz="1800" kern="1200" dirty="0" smtClean="0">
                          <a:solidFill>
                            <a:schemeClr val="dk1"/>
                          </a:solidFill>
                          <a:latin typeface="Times New Roman" pitchFamily="18" charset="0"/>
                          <a:ea typeface="+mn-ea"/>
                          <a:cs typeface="Times New Roman" pitchFamily="18" charset="0"/>
                        </a:rPr>
                        <a:t>; </a:t>
                      </a:r>
                      <a:r>
                        <a:rPr lang="en-US" sz="1800" kern="1200" dirty="0" err="1" smtClean="0">
                          <a:solidFill>
                            <a:schemeClr val="dk1"/>
                          </a:solidFill>
                          <a:latin typeface="Times New Roman" pitchFamily="18" charset="0"/>
                          <a:ea typeface="+mn-ea"/>
                          <a:cs typeface="Times New Roman" pitchFamily="18" charset="0"/>
                        </a:rPr>
                        <a:t>Govinda</a:t>
                      </a:r>
                      <a:r>
                        <a:rPr lang="en-US" sz="1800" kern="1200" dirty="0" smtClean="0">
                          <a:solidFill>
                            <a:schemeClr val="dk1"/>
                          </a:solidFill>
                          <a:latin typeface="Times New Roman" pitchFamily="18" charset="0"/>
                          <a:ea typeface="+mn-ea"/>
                          <a:cs typeface="Times New Roman" pitchFamily="18" charset="0"/>
                        </a:rPr>
                        <a:t> Agrawal; Arjun Sharma</a:t>
                      </a:r>
                      <a:endParaRPr lang="en-US" sz="1800" kern="1200" dirty="0">
                        <a:solidFill>
                          <a:schemeClr val="dk1"/>
                        </a:solidFill>
                        <a:latin typeface="Times New Roman" pitchFamily="18" charset="0"/>
                        <a:ea typeface="+mn-ea"/>
                        <a:cs typeface="Times New Roman" pitchFamily="18" charset="0"/>
                      </a:endParaRPr>
                    </a:p>
                  </a:txBody>
                  <a:tcPr anchor="ctr"/>
                </a:tc>
                <a:tc>
                  <a:txBody>
                    <a:bodyPr/>
                    <a:lstStyle/>
                    <a:p>
                      <a:r>
                        <a:rPr lang="en-US" sz="1800" kern="1200" dirty="0">
                          <a:solidFill>
                            <a:schemeClr val="dk1"/>
                          </a:solidFill>
                          <a:latin typeface="Times New Roman" pitchFamily="18" charset="0"/>
                          <a:ea typeface="+mn-ea"/>
                          <a:cs typeface="Times New Roman" pitchFamily="18" charset="0"/>
                        </a:rPr>
                        <a:t>Time-series forecasting</a:t>
                      </a:r>
                    </a:p>
                  </a:txBody>
                  <a:tcPr anchor="ctr"/>
                </a:tc>
                <a:tc>
                  <a:txBody>
                    <a:bodyPr/>
                    <a:lstStyle/>
                    <a:p>
                      <a:r>
                        <a:rPr lang="en-US" sz="1800" kern="1200" dirty="0">
                          <a:solidFill>
                            <a:schemeClr val="dk1"/>
                          </a:solidFill>
                          <a:latin typeface="Times New Roman" pitchFamily="18" charset="0"/>
                          <a:ea typeface="+mn-ea"/>
                          <a:cs typeface="Times New Roman" pitchFamily="18" charset="0"/>
                        </a:rPr>
                        <a:t>Not specified</a:t>
                      </a:r>
                    </a:p>
                  </a:txBody>
                  <a:tcPr anchor="ctr"/>
                </a:tc>
                <a:tc>
                  <a:txBody>
                    <a:bodyPr/>
                    <a:lstStyle/>
                    <a:p>
                      <a:r>
                        <a:rPr lang="en-US" sz="1800" kern="1200" dirty="0">
                          <a:solidFill>
                            <a:schemeClr val="dk1"/>
                          </a:solidFill>
                          <a:latin typeface="Times New Roman" pitchFamily="18" charset="0"/>
                          <a:ea typeface="+mn-ea"/>
                          <a:cs typeface="Times New Roman" pitchFamily="18" charset="0"/>
                        </a:rPr>
                        <a:t>Analyzes historical electricity consumption trends and applies forecasting methods to model dynamic energy usage patterns over time.</a:t>
                      </a:r>
                    </a:p>
                  </a:txBody>
                  <a:tcPr anchor="ctr"/>
                </a:tc>
                <a:extLst>
                  <a:ext uri="{0D108BD9-81ED-4DB2-BD59-A6C34878D82A}">
                    <a16:rowId xmlns:a16="http://schemas.microsoft.com/office/drawing/2014/main" xmlns="" val="2664300860"/>
                  </a:ext>
                </a:extLst>
              </a:tr>
            </a:tbl>
          </a:graphicData>
        </a:graphic>
      </p:graphicFrame>
    </p:spTree>
    <p:extLst>
      <p:ext uri="{BB962C8B-B14F-4D97-AF65-F5344CB8AC3E}">
        <p14:creationId xmlns:p14="http://schemas.microsoft.com/office/powerpoint/2010/main" xmlns="" val="223864201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Data Description</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pPr>
              <a:buNone/>
            </a:pPr>
            <a:r>
              <a:rPr lang="en-US" sz="1400" dirty="0">
                <a:latin typeface="Times New Roman" pitchFamily="18" charset="0"/>
                <a:cs typeface="Times New Roman" pitchFamily="18" charset="0"/>
              </a:rPr>
              <a:t>For this project we collected two datasets. One is related to energy production and supply of London City. The other is the weather dataset of the same city, </a:t>
            </a:r>
            <a:r>
              <a:rPr lang="en-US" sz="1400" dirty="0" smtClean="0">
                <a:latin typeface="Times New Roman" pitchFamily="18" charset="0"/>
                <a:cs typeface="Times New Roman" pitchFamily="18" charset="0"/>
              </a:rPr>
              <a:t>which </a:t>
            </a:r>
            <a:r>
              <a:rPr lang="en-US" sz="1400" dirty="0">
                <a:latin typeface="Times New Roman" pitchFamily="18" charset="0"/>
                <a:cs typeface="Times New Roman" pitchFamily="18" charset="0"/>
              </a:rPr>
              <a:t>acts as the dependent factors for the energy production</a:t>
            </a:r>
            <a:r>
              <a:rPr lang="en-US" sz="1400" dirty="0" smtClean="0">
                <a:latin typeface="Times New Roman" pitchFamily="18" charset="0"/>
                <a:cs typeface="Times New Roman" pitchFamily="18" charset="0"/>
              </a:rPr>
              <a:t>.</a:t>
            </a:r>
          </a:p>
          <a:p>
            <a:pPr>
              <a:buNone/>
            </a:pPr>
            <a:endParaRPr lang="en-US" sz="1400" dirty="0">
              <a:latin typeface="Times New Roman" pitchFamily="18" charset="0"/>
              <a:cs typeface="Times New Roman" pitchFamily="18" charset="0"/>
            </a:endParaRPr>
          </a:p>
          <a:p>
            <a:pPr lvl="0">
              <a:buNone/>
            </a:pPr>
            <a:r>
              <a:rPr lang="en-US" sz="1400" dirty="0">
                <a:latin typeface="Times New Roman" pitchFamily="18" charset="0"/>
                <a:cs typeface="Times New Roman" pitchFamily="18" charset="0"/>
              </a:rPr>
              <a:t>Energy Dataset: </a:t>
            </a:r>
            <a:endParaRPr lang="en-US" sz="1400" dirty="0" smtClean="0">
              <a:latin typeface="Times New Roman" pitchFamily="18" charset="0"/>
              <a:cs typeface="Times New Roman" pitchFamily="18" charset="0"/>
            </a:endParaRPr>
          </a:p>
          <a:p>
            <a:pPr lvl="0"/>
            <a:r>
              <a:rPr lang="en-US" sz="1400" dirty="0" smtClean="0">
                <a:latin typeface="Times New Roman" pitchFamily="18" charset="0"/>
                <a:cs typeface="Times New Roman" pitchFamily="18" charset="0"/>
              </a:rPr>
              <a:t>This </a:t>
            </a:r>
            <a:r>
              <a:rPr lang="en-US" sz="1400" dirty="0">
                <a:latin typeface="Times New Roman" pitchFamily="18" charset="0"/>
                <a:cs typeface="Times New Roman" pitchFamily="18" charset="0"/>
              </a:rPr>
              <a:t>is a daily basis dataset. </a:t>
            </a:r>
            <a:endParaRPr lang="en-US" sz="1400" dirty="0" smtClean="0">
              <a:latin typeface="Times New Roman" pitchFamily="18" charset="0"/>
              <a:cs typeface="Times New Roman" pitchFamily="18" charset="0"/>
            </a:endParaRPr>
          </a:p>
          <a:p>
            <a:pPr lvl="0"/>
            <a:r>
              <a:rPr lang="en-US" sz="1400" dirty="0" smtClean="0">
                <a:latin typeface="Times New Roman" pitchFamily="18" charset="0"/>
                <a:cs typeface="Times New Roman" pitchFamily="18" charset="0"/>
              </a:rPr>
              <a:t>It </a:t>
            </a:r>
            <a:r>
              <a:rPr lang="en-US" sz="1400" dirty="0">
                <a:latin typeface="Times New Roman" pitchFamily="18" charset="0"/>
                <a:cs typeface="Times New Roman" pitchFamily="18" charset="0"/>
              </a:rPr>
              <a:t>consists of columns: day, </a:t>
            </a:r>
            <a:r>
              <a:rPr lang="en-US" sz="1400" dirty="0" err="1">
                <a:latin typeface="Times New Roman" pitchFamily="18" charset="0"/>
                <a:cs typeface="Times New Roman" pitchFamily="18" charset="0"/>
              </a:rPr>
              <a:t>energy_median</a:t>
            </a:r>
            <a:r>
              <a:rPr lang="en-US" sz="1400" dirty="0">
                <a:latin typeface="Times New Roman" pitchFamily="18" charset="0"/>
                <a:cs typeface="Times New Roman" pitchFamily="18" charset="0"/>
              </a:rPr>
              <a:t>, </a:t>
            </a:r>
            <a:r>
              <a:rPr lang="en-US" sz="1400" dirty="0" err="1">
                <a:latin typeface="Times New Roman" pitchFamily="18" charset="0"/>
                <a:cs typeface="Times New Roman" pitchFamily="18" charset="0"/>
              </a:rPr>
              <a:t>energy_mean</a:t>
            </a:r>
            <a:r>
              <a:rPr lang="en-US" sz="1400" dirty="0">
                <a:latin typeface="Times New Roman" pitchFamily="18" charset="0"/>
                <a:cs typeface="Times New Roman" pitchFamily="18" charset="0"/>
              </a:rPr>
              <a:t>, </a:t>
            </a:r>
            <a:r>
              <a:rPr lang="en-US" sz="1400" dirty="0" err="1">
                <a:latin typeface="Times New Roman" pitchFamily="18" charset="0"/>
                <a:cs typeface="Times New Roman" pitchFamily="18" charset="0"/>
              </a:rPr>
              <a:t>energy_max</a:t>
            </a:r>
            <a:r>
              <a:rPr lang="en-US" sz="1400" dirty="0">
                <a:latin typeface="Times New Roman" pitchFamily="18" charset="0"/>
                <a:cs typeface="Times New Roman" pitchFamily="18" charset="0"/>
              </a:rPr>
              <a:t>, </a:t>
            </a:r>
            <a:r>
              <a:rPr lang="en-US" sz="1400" dirty="0" err="1">
                <a:latin typeface="Times New Roman" pitchFamily="18" charset="0"/>
                <a:cs typeface="Times New Roman" pitchFamily="18" charset="0"/>
              </a:rPr>
              <a:t>energy_count</a:t>
            </a:r>
            <a:r>
              <a:rPr lang="en-US" sz="1400" dirty="0">
                <a:latin typeface="Times New Roman" pitchFamily="18" charset="0"/>
                <a:cs typeface="Times New Roman" pitchFamily="18" charset="0"/>
              </a:rPr>
              <a:t>, </a:t>
            </a:r>
            <a:r>
              <a:rPr lang="en-US" sz="1400" dirty="0" err="1">
                <a:latin typeface="Times New Roman" pitchFamily="18" charset="0"/>
                <a:cs typeface="Times New Roman" pitchFamily="18" charset="0"/>
              </a:rPr>
              <a:t>energy_std</a:t>
            </a:r>
            <a:r>
              <a:rPr lang="en-US" sz="1400" dirty="0">
                <a:latin typeface="Times New Roman" pitchFamily="18" charset="0"/>
                <a:cs typeface="Times New Roman" pitchFamily="18" charset="0"/>
              </a:rPr>
              <a:t>, </a:t>
            </a:r>
            <a:r>
              <a:rPr lang="en-US" sz="1400" dirty="0" err="1">
                <a:latin typeface="Times New Roman" pitchFamily="18" charset="0"/>
                <a:cs typeface="Times New Roman" pitchFamily="18" charset="0"/>
              </a:rPr>
              <a:t>energy_sum</a:t>
            </a:r>
            <a:r>
              <a:rPr lang="en-US" sz="1400" dirty="0">
                <a:latin typeface="Times New Roman" pitchFamily="18" charset="0"/>
                <a:cs typeface="Times New Roman" pitchFamily="18" charset="0"/>
              </a:rPr>
              <a:t>, </a:t>
            </a:r>
            <a:r>
              <a:rPr lang="en-US" sz="1400" dirty="0" err="1">
                <a:latin typeface="Times New Roman" pitchFamily="18" charset="0"/>
                <a:cs typeface="Times New Roman" pitchFamily="18" charset="0"/>
              </a:rPr>
              <a:t>energy_min</a:t>
            </a:r>
            <a:r>
              <a:rPr lang="en-US" sz="1400" dirty="0" smtClean="0">
                <a:latin typeface="Times New Roman" pitchFamily="18" charset="0"/>
                <a:cs typeface="Times New Roman" pitchFamily="18" charset="0"/>
              </a:rPr>
              <a:t>.</a:t>
            </a:r>
          </a:p>
          <a:p>
            <a:pPr lvl="0"/>
            <a:r>
              <a:rPr lang="en-US" sz="1400" dirty="0" smtClean="0">
                <a:latin typeface="Times New Roman" pitchFamily="18" charset="0"/>
                <a:cs typeface="Times New Roman" pitchFamily="18" charset="0"/>
              </a:rPr>
              <a:t>112 daily </a:t>
            </a:r>
            <a:r>
              <a:rPr lang="en-US" sz="1400" dirty="0" smtClean="0">
                <a:latin typeface="Times New Roman" pitchFamily="18" charset="0"/>
                <a:cs typeface="Times New Roman" pitchFamily="18" charset="0"/>
              </a:rPr>
              <a:t>CSVs</a:t>
            </a:r>
          </a:p>
          <a:p>
            <a:pPr lvl="0"/>
            <a:r>
              <a:rPr lang="en-US" sz="1400" dirty="0" smtClean="0">
                <a:latin typeface="Times New Roman" pitchFamily="18" charset="0"/>
                <a:cs typeface="Times New Roman" pitchFamily="18" charset="0"/>
              </a:rPr>
              <a:t>2949624 rows × 7 columns (after merging, treating outliers, handling missing values)</a:t>
            </a:r>
          </a:p>
          <a:p>
            <a:pPr lvl="0">
              <a:buNone/>
            </a:pPr>
            <a:r>
              <a:rPr lang="en-US" sz="1400" dirty="0">
                <a:latin typeface="Times New Roman" pitchFamily="18" charset="0"/>
                <a:cs typeface="Times New Roman" pitchFamily="18" charset="0"/>
              </a:rPr>
              <a:t>	</a:t>
            </a:r>
          </a:p>
          <a:p>
            <a:pPr>
              <a:buNone/>
            </a:pPr>
            <a:endParaRPr lang="en-US" sz="1400" dirty="0">
              <a:latin typeface="Times New Roman" pitchFamily="18" charset="0"/>
              <a:cs typeface="Times New Roman" pitchFamily="18" charset="0"/>
            </a:endParaRPr>
          </a:p>
          <a:p>
            <a:pPr lvl="0">
              <a:buNone/>
            </a:pPr>
            <a:r>
              <a:rPr lang="en-US" sz="1400" dirty="0">
                <a:latin typeface="Times New Roman" pitchFamily="18" charset="0"/>
                <a:cs typeface="Times New Roman" pitchFamily="18" charset="0"/>
              </a:rPr>
              <a:t>Weather Dataset: </a:t>
            </a:r>
            <a:endParaRPr lang="en-US" sz="1400" dirty="0" smtClean="0">
              <a:latin typeface="Times New Roman" pitchFamily="18" charset="0"/>
              <a:cs typeface="Times New Roman" pitchFamily="18" charset="0"/>
            </a:endParaRPr>
          </a:p>
          <a:p>
            <a:r>
              <a:rPr lang="en-US" sz="1400" dirty="0" smtClean="0">
                <a:latin typeface="Times New Roman" pitchFamily="18" charset="0"/>
                <a:cs typeface="Times New Roman" pitchFamily="18" charset="0"/>
              </a:rPr>
              <a:t>It </a:t>
            </a:r>
            <a:r>
              <a:rPr lang="en-US" sz="1400" dirty="0">
                <a:latin typeface="Times New Roman" pitchFamily="18" charset="0"/>
                <a:cs typeface="Times New Roman" pitchFamily="18" charset="0"/>
              </a:rPr>
              <a:t>contains the variables: '</a:t>
            </a:r>
            <a:r>
              <a:rPr lang="en-US" sz="1400" dirty="0" err="1">
                <a:latin typeface="Times New Roman" pitchFamily="18" charset="0"/>
                <a:cs typeface="Times New Roman" pitchFamily="18" charset="0"/>
              </a:rPr>
              <a:t>temperatureMax</a:t>
            </a:r>
            <a:r>
              <a:rPr lang="en-US" sz="1400" dirty="0">
                <a:latin typeface="Times New Roman" pitchFamily="18" charset="0"/>
                <a:cs typeface="Times New Roman" pitchFamily="18" charset="0"/>
              </a:rPr>
              <a:t>', '</a:t>
            </a:r>
            <a:r>
              <a:rPr lang="en-US" sz="1400" dirty="0" err="1">
                <a:latin typeface="Times New Roman" pitchFamily="18" charset="0"/>
                <a:cs typeface="Times New Roman" pitchFamily="18" charset="0"/>
              </a:rPr>
              <a:t>temperatureMaxTime</a:t>
            </a:r>
            <a:r>
              <a:rPr lang="en-US" sz="1400" dirty="0">
                <a:latin typeface="Times New Roman" pitchFamily="18" charset="0"/>
                <a:cs typeface="Times New Roman" pitchFamily="18" charset="0"/>
              </a:rPr>
              <a:t>', '</a:t>
            </a:r>
            <a:r>
              <a:rPr lang="en-US" sz="1400" dirty="0" err="1">
                <a:latin typeface="Times New Roman" pitchFamily="18" charset="0"/>
                <a:cs typeface="Times New Roman" pitchFamily="18" charset="0"/>
              </a:rPr>
              <a:t>windBearing</a:t>
            </a:r>
            <a:r>
              <a:rPr lang="en-US" sz="1400" dirty="0">
                <a:latin typeface="Times New Roman" pitchFamily="18" charset="0"/>
                <a:cs typeface="Times New Roman" pitchFamily="18" charset="0"/>
              </a:rPr>
              <a:t>', 'icon', '</a:t>
            </a:r>
            <a:r>
              <a:rPr lang="en-US" sz="1400" dirty="0" err="1">
                <a:latin typeface="Times New Roman" pitchFamily="18" charset="0"/>
                <a:cs typeface="Times New Roman" pitchFamily="18" charset="0"/>
              </a:rPr>
              <a:t>dewPoint</a:t>
            </a:r>
            <a:r>
              <a:rPr lang="en-US" sz="1400" dirty="0">
                <a:latin typeface="Times New Roman" pitchFamily="18" charset="0"/>
                <a:cs typeface="Times New Roman" pitchFamily="18" charset="0"/>
              </a:rPr>
              <a:t>', '</a:t>
            </a:r>
            <a:r>
              <a:rPr lang="en-US" sz="1400" dirty="0" err="1">
                <a:latin typeface="Times New Roman" pitchFamily="18" charset="0"/>
                <a:cs typeface="Times New Roman" pitchFamily="18" charset="0"/>
              </a:rPr>
              <a:t>temperatureMinTime</a:t>
            </a:r>
            <a:r>
              <a:rPr lang="en-US" sz="1400" dirty="0">
                <a:latin typeface="Times New Roman" pitchFamily="18" charset="0"/>
                <a:cs typeface="Times New Roman" pitchFamily="18" charset="0"/>
              </a:rPr>
              <a:t>', '</a:t>
            </a:r>
            <a:r>
              <a:rPr lang="en-US" sz="1400" dirty="0" err="1">
                <a:latin typeface="Times New Roman" pitchFamily="18" charset="0"/>
                <a:cs typeface="Times New Roman" pitchFamily="18" charset="0"/>
              </a:rPr>
              <a:t>cloudCover</a:t>
            </a:r>
            <a:r>
              <a:rPr lang="en-US" sz="1400" dirty="0">
                <a:latin typeface="Times New Roman" pitchFamily="18" charset="0"/>
                <a:cs typeface="Times New Roman" pitchFamily="18" charset="0"/>
              </a:rPr>
              <a:t>', '</a:t>
            </a:r>
            <a:r>
              <a:rPr lang="en-US" sz="1400" dirty="0" err="1">
                <a:latin typeface="Times New Roman" pitchFamily="18" charset="0"/>
                <a:cs typeface="Times New Roman" pitchFamily="18" charset="0"/>
              </a:rPr>
              <a:t>windSpeed</a:t>
            </a:r>
            <a:r>
              <a:rPr lang="en-US" sz="1400" dirty="0">
                <a:latin typeface="Times New Roman" pitchFamily="18" charset="0"/>
                <a:cs typeface="Times New Roman" pitchFamily="18" charset="0"/>
              </a:rPr>
              <a:t>', 'pressure', '</a:t>
            </a:r>
            <a:r>
              <a:rPr lang="en-US" sz="1400" dirty="0" err="1">
                <a:latin typeface="Times New Roman" pitchFamily="18" charset="0"/>
                <a:cs typeface="Times New Roman" pitchFamily="18" charset="0"/>
              </a:rPr>
              <a:t>apparentTemperatureMinTime</a:t>
            </a:r>
            <a:r>
              <a:rPr lang="en-US" sz="1400" dirty="0">
                <a:latin typeface="Times New Roman" pitchFamily="18" charset="0"/>
                <a:cs typeface="Times New Roman" pitchFamily="18" charset="0"/>
              </a:rPr>
              <a:t>', '</a:t>
            </a:r>
            <a:r>
              <a:rPr lang="en-US" sz="1400" dirty="0" err="1">
                <a:latin typeface="Times New Roman" pitchFamily="18" charset="0"/>
                <a:cs typeface="Times New Roman" pitchFamily="18" charset="0"/>
              </a:rPr>
              <a:t>apparentTemperatureHigh</a:t>
            </a:r>
            <a:r>
              <a:rPr lang="en-US" sz="1400" dirty="0">
                <a:latin typeface="Times New Roman" pitchFamily="18" charset="0"/>
                <a:cs typeface="Times New Roman" pitchFamily="18" charset="0"/>
              </a:rPr>
              <a:t>', '</a:t>
            </a:r>
            <a:r>
              <a:rPr lang="en-US" sz="1400" dirty="0" err="1">
                <a:latin typeface="Times New Roman" pitchFamily="18" charset="0"/>
                <a:cs typeface="Times New Roman" pitchFamily="18" charset="0"/>
              </a:rPr>
              <a:t>precipType</a:t>
            </a:r>
            <a:r>
              <a:rPr lang="en-US" sz="1400" dirty="0">
                <a:latin typeface="Times New Roman" pitchFamily="18" charset="0"/>
                <a:cs typeface="Times New Roman" pitchFamily="18" charset="0"/>
              </a:rPr>
              <a:t>', 'visibility', 'humidity', '</a:t>
            </a:r>
            <a:r>
              <a:rPr lang="en-US" sz="1400" dirty="0" err="1">
                <a:latin typeface="Times New Roman" pitchFamily="18" charset="0"/>
                <a:cs typeface="Times New Roman" pitchFamily="18" charset="0"/>
              </a:rPr>
              <a:t>apparentTemperatureHighTime</a:t>
            </a:r>
            <a:r>
              <a:rPr lang="en-US" sz="1400" dirty="0">
                <a:latin typeface="Times New Roman" pitchFamily="18" charset="0"/>
                <a:cs typeface="Times New Roman" pitchFamily="18" charset="0"/>
              </a:rPr>
              <a:t>', '</a:t>
            </a:r>
            <a:r>
              <a:rPr lang="en-US" sz="1400" dirty="0" err="1">
                <a:latin typeface="Times New Roman" pitchFamily="18" charset="0"/>
                <a:cs typeface="Times New Roman" pitchFamily="18" charset="0"/>
              </a:rPr>
              <a:t>apparentTemperatureLow</a:t>
            </a:r>
            <a:r>
              <a:rPr lang="en-US" sz="1400" dirty="0">
                <a:latin typeface="Times New Roman" pitchFamily="18" charset="0"/>
                <a:cs typeface="Times New Roman" pitchFamily="18" charset="0"/>
              </a:rPr>
              <a:t>', '</a:t>
            </a:r>
            <a:r>
              <a:rPr lang="en-US" sz="1400" dirty="0" err="1">
                <a:latin typeface="Times New Roman" pitchFamily="18" charset="0"/>
                <a:cs typeface="Times New Roman" pitchFamily="18" charset="0"/>
              </a:rPr>
              <a:t>apparentTemperatureMax</a:t>
            </a:r>
            <a:r>
              <a:rPr lang="en-US" sz="1400" dirty="0">
                <a:latin typeface="Times New Roman" pitchFamily="18" charset="0"/>
                <a:cs typeface="Times New Roman" pitchFamily="18" charset="0"/>
              </a:rPr>
              <a:t>', '</a:t>
            </a:r>
            <a:r>
              <a:rPr lang="en-US" sz="1400" dirty="0" err="1">
                <a:latin typeface="Times New Roman" pitchFamily="18" charset="0"/>
                <a:cs typeface="Times New Roman" pitchFamily="18" charset="0"/>
              </a:rPr>
              <a:t>uvIndex</a:t>
            </a:r>
            <a:r>
              <a:rPr lang="en-US" sz="1400" dirty="0">
                <a:latin typeface="Times New Roman" pitchFamily="18" charset="0"/>
                <a:cs typeface="Times New Roman" pitchFamily="18" charset="0"/>
              </a:rPr>
              <a:t>', 'time', '</a:t>
            </a:r>
            <a:r>
              <a:rPr lang="en-US" sz="1400" dirty="0" err="1">
                <a:latin typeface="Times New Roman" pitchFamily="18" charset="0"/>
                <a:cs typeface="Times New Roman" pitchFamily="18" charset="0"/>
              </a:rPr>
              <a:t>sunsetTime</a:t>
            </a:r>
            <a:r>
              <a:rPr lang="en-US" sz="1400" dirty="0">
                <a:latin typeface="Times New Roman" pitchFamily="18" charset="0"/>
                <a:cs typeface="Times New Roman" pitchFamily="18" charset="0"/>
              </a:rPr>
              <a:t>', '</a:t>
            </a:r>
            <a:r>
              <a:rPr lang="en-US" sz="1400" dirty="0" err="1">
                <a:latin typeface="Times New Roman" pitchFamily="18" charset="0"/>
                <a:cs typeface="Times New Roman" pitchFamily="18" charset="0"/>
              </a:rPr>
              <a:t>temperatureLow</a:t>
            </a:r>
            <a:r>
              <a:rPr lang="en-US" sz="1400" dirty="0">
                <a:latin typeface="Times New Roman" pitchFamily="18" charset="0"/>
                <a:cs typeface="Times New Roman" pitchFamily="18" charset="0"/>
              </a:rPr>
              <a:t>', '</a:t>
            </a:r>
            <a:r>
              <a:rPr lang="en-US" sz="1400" dirty="0" err="1">
                <a:latin typeface="Times New Roman" pitchFamily="18" charset="0"/>
                <a:cs typeface="Times New Roman" pitchFamily="18" charset="0"/>
              </a:rPr>
              <a:t>temperatureMin</a:t>
            </a:r>
            <a:r>
              <a:rPr lang="en-US" sz="1400" dirty="0">
                <a:latin typeface="Times New Roman" pitchFamily="18" charset="0"/>
                <a:cs typeface="Times New Roman" pitchFamily="18" charset="0"/>
              </a:rPr>
              <a:t>', '</a:t>
            </a:r>
            <a:r>
              <a:rPr lang="en-US" sz="1400" dirty="0" err="1">
                <a:latin typeface="Times New Roman" pitchFamily="18" charset="0"/>
                <a:cs typeface="Times New Roman" pitchFamily="18" charset="0"/>
              </a:rPr>
              <a:t>temperatureHigh</a:t>
            </a:r>
            <a:r>
              <a:rPr lang="en-US" sz="1400" dirty="0">
                <a:latin typeface="Times New Roman" pitchFamily="18" charset="0"/>
                <a:cs typeface="Times New Roman" pitchFamily="18" charset="0"/>
              </a:rPr>
              <a:t>', '</a:t>
            </a:r>
            <a:r>
              <a:rPr lang="en-US" sz="1400" dirty="0" err="1">
                <a:latin typeface="Times New Roman" pitchFamily="18" charset="0"/>
                <a:cs typeface="Times New Roman" pitchFamily="18" charset="0"/>
              </a:rPr>
              <a:t>sunriseTime</a:t>
            </a:r>
            <a:r>
              <a:rPr lang="en-US" sz="1400" dirty="0">
                <a:latin typeface="Times New Roman" pitchFamily="18" charset="0"/>
                <a:cs typeface="Times New Roman" pitchFamily="18" charset="0"/>
              </a:rPr>
              <a:t>', '</a:t>
            </a:r>
            <a:r>
              <a:rPr lang="en-US" sz="1400" dirty="0" err="1">
                <a:latin typeface="Times New Roman" pitchFamily="18" charset="0"/>
                <a:cs typeface="Times New Roman" pitchFamily="18" charset="0"/>
              </a:rPr>
              <a:t>temperatureHighTime</a:t>
            </a:r>
            <a:r>
              <a:rPr lang="en-US" sz="1400" dirty="0">
                <a:latin typeface="Times New Roman" pitchFamily="18" charset="0"/>
                <a:cs typeface="Times New Roman" pitchFamily="18" charset="0"/>
              </a:rPr>
              <a:t>', '</a:t>
            </a:r>
            <a:r>
              <a:rPr lang="en-US" sz="1400" dirty="0" err="1">
                <a:latin typeface="Times New Roman" pitchFamily="18" charset="0"/>
                <a:cs typeface="Times New Roman" pitchFamily="18" charset="0"/>
              </a:rPr>
              <a:t>uvIndexTime</a:t>
            </a:r>
            <a:r>
              <a:rPr lang="en-US" sz="1400" dirty="0">
                <a:latin typeface="Times New Roman" pitchFamily="18" charset="0"/>
                <a:cs typeface="Times New Roman" pitchFamily="18" charset="0"/>
              </a:rPr>
              <a:t>', 'summary',       '</a:t>
            </a:r>
            <a:r>
              <a:rPr lang="en-US" sz="1400" dirty="0" err="1">
                <a:latin typeface="Times New Roman" pitchFamily="18" charset="0"/>
                <a:cs typeface="Times New Roman" pitchFamily="18" charset="0"/>
              </a:rPr>
              <a:t>temperatureLowTime</a:t>
            </a:r>
            <a:r>
              <a:rPr lang="en-US" sz="1400" dirty="0">
                <a:latin typeface="Times New Roman" pitchFamily="18" charset="0"/>
                <a:cs typeface="Times New Roman" pitchFamily="18" charset="0"/>
              </a:rPr>
              <a:t>', '</a:t>
            </a:r>
            <a:r>
              <a:rPr lang="en-US" sz="1400" dirty="0" err="1">
                <a:latin typeface="Times New Roman" pitchFamily="18" charset="0"/>
                <a:cs typeface="Times New Roman" pitchFamily="18" charset="0"/>
              </a:rPr>
              <a:t>apparentTemperatureMin</a:t>
            </a:r>
            <a:r>
              <a:rPr lang="en-US" sz="1400" dirty="0">
                <a:latin typeface="Times New Roman" pitchFamily="18" charset="0"/>
                <a:cs typeface="Times New Roman" pitchFamily="18" charset="0"/>
              </a:rPr>
              <a:t>', '</a:t>
            </a:r>
            <a:r>
              <a:rPr lang="en-US" sz="1400" dirty="0" err="1">
                <a:latin typeface="Times New Roman" pitchFamily="18" charset="0"/>
                <a:cs typeface="Times New Roman" pitchFamily="18" charset="0"/>
              </a:rPr>
              <a:t>apparentTemperatureMaxTime</a:t>
            </a:r>
            <a:r>
              <a:rPr lang="en-US" sz="1400" dirty="0">
                <a:latin typeface="Times New Roman" pitchFamily="18" charset="0"/>
                <a:cs typeface="Times New Roman" pitchFamily="18" charset="0"/>
              </a:rPr>
              <a:t>', '</a:t>
            </a:r>
            <a:r>
              <a:rPr lang="en-US" sz="1400" dirty="0" err="1">
                <a:latin typeface="Times New Roman" pitchFamily="18" charset="0"/>
                <a:cs typeface="Times New Roman" pitchFamily="18" charset="0"/>
              </a:rPr>
              <a:t>apparentTemperatureLowTime</a:t>
            </a:r>
            <a:r>
              <a:rPr lang="en-US" sz="1400" dirty="0">
                <a:latin typeface="Times New Roman" pitchFamily="18" charset="0"/>
                <a:cs typeface="Times New Roman" pitchFamily="18" charset="0"/>
              </a:rPr>
              <a:t>', </a:t>
            </a:r>
            <a:r>
              <a:rPr lang="en-US" sz="1400" dirty="0" smtClean="0">
                <a:latin typeface="Times New Roman" pitchFamily="18" charset="0"/>
                <a:cs typeface="Times New Roman" pitchFamily="18" charset="0"/>
              </a:rPr>
              <a:t>'</a:t>
            </a:r>
            <a:r>
              <a:rPr lang="en-US" sz="1400" dirty="0" err="1" smtClean="0">
                <a:latin typeface="Times New Roman" pitchFamily="18" charset="0"/>
                <a:cs typeface="Times New Roman" pitchFamily="18" charset="0"/>
              </a:rPr>
              <a:t>moonPhase</a:t>
            </a:r>
            <a:r>
              <a:rPr lang="en-US" sz="1400" dirty="0" smtClean="0">
                <a:latin typeface="Times New Roman" pitchFamily="18" charset="0"/>
                <a:cs typeface="Times New Roman" pitchFamily="18" charset="0"/>
              </a:rPr>
              <a:t>‘.</a:t>
            </a:r>
          </a:p>
          <a:p>
            <a:r>
              <a:rPr lang="en-US" sz="1400" dirty="0" smtClean="0">
                <a:latin typeface="Times New Roman" pitchFamily="18" charset="0"/>
                <a:cs typeface="Times New Roman" pitchFamily="18" charset="0"/>
              </a:rPr>
              <a:t>882 rows × 32 columns ( before feature engineering)</a:t>
            </a:r>
          </a:p>
          <a:p>
            <a:pPr>
              <a:buNone/>
            </a:pPr>
            <a:endParaRPr lang="en-US" sz="1400" dirty="0">
              <a:latin typeface="Times New Roman" pitchFamily="18" charset="0"/>
              <a:cs typeface="Times New Roman" pitchFamily="18" charset="0"/>
            </a:endParaRPr>
          </a:p>
          <a:p>
            <a:pPr>
              <a:buNone/>
            </a:pPr>
            <a:endParaRPr lang="en-US" sz="1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404664"/>
            <a:ext cx="8301608" cy="6048672"/>
          </a:xfrm>
        </p:spPr>
        <p:txBody>
          <a:bodyPr>
            <a:normAutofit/>
          </a:bodyPr>
          <a:lstStyle/>
          <a:p>
            <a:r>
              <a:rPr lang="en-US" sz="1400" dirty="0" smtClean="0">
                <a:latin typeface="Times New Roman" pitchFamily="18" charset="0"/>
                <a:cs typeface="Times New Roman" pitchFamily="18" charset="0"/>
              </a:rPr>
              <a:t>After performing one-hot encoding, add features and removing unnecessary features the shape of the weather dataset is 882 rows × 28 columns</a:t>
            </a:r>
          </a:p>
          <a:p>
            <a:endParaRPr lang="en-US" sz="1400" dirty="0" smtClean="0"/>
          </a:p>
          <a:p>
            <a:pPr>
              <a:buNone/>
            </a:pPr>
            <a:r>
              <a:rPr lang="en-US" sz="1400" dirty="0" smtClean="0">
                <a:latin typeface="Times New Roman" pitchFamily="18" charset="0"/>
                <a:cs typeface="Times New Roman" pitchFamily="18" charset="0"/>
              </a:rPr>
              <a:t>Final Data:</a:t>
            </a:r>
          </a:p>
          <a:p>
            <a:r>
              <a:rPr lang="en-US" sz="1400" dirty="0" smtClean="0">
                <a:latin typeface="Times New Roman" pitchFamily="18" charset="0"/>
                <a:cs typeface="Times New Roman" pitchFamily="18" charset="0"/>
              </a:rPr>
              <a:t>After merging the processed energy data and weather data by considering the </a:t>
            </a:r>
            <a:r>
              <a:rPr lang="en-US" sz="1400" dirty="0" err="1" smtClean="0">
                <a:latin typeface="Times New Roman" pitchFamily="18" charset="0"/>
                <a:cs typeface="Times New Roman" pitchFamily="18" charset="0"/>
              </a:rPr>
              <a:t>daya</a:t>
            </a:r>
            <a:r>
              <a:rPr lang="en-US" sz="1400" dirty="0" smtClean="0">
                <a:latin typeface="Times New Roman" pitchFamily="18" charset="0"/>
                <a:cs typeface="Times New Roman" pitchFamily="18" charset="0"/>
              </a:rPr>
              <a:t> column as the common column to merge the datasets, the shape of the final dataset is </a:t>
            </a:r>
            <a:r>
              <a:rPr lang="en-US" sz="1400" dirty="0" smtClean="0">
                <a:latin typeface="Times New Roman" pitchFamily="18" charset="0"/>
                <a:cs typeface="Times New Roman" pitchFamily="18" charset="0"/>
              </a:rPr>
              <a:t>2949624 rows x 37 </a:t>
            </a:r>
            <a:r>
              <a:rPr lang="en-US" sz="1400" dirty="0" smtClean="0">
                <a:latin typeface="Times New Roman" pitchFamily="18" charset="0"/>
                <a:cs typeface="Times New Roman" pitchFamily="18" charset="0"/>
              </a:rPr>
              <a:t>columns</a:t>
            </a:r>
          </a:p>
          <a:p>
            <a:pPr>
              <a:buNone/>
            </a:pPr>
            <a:endParaRPr lang="en-US" sz="1400" dirty="0" smtClean="0">
              <a:latin typeface="Times New Roman" pitchFamily="18" charset="0"/>
              <a:cs typeface="Times New Roman" pitchFamily="18" charset="0"/>
            </a:endParaRPr>
          </a:p>
          <a:p>
            <a:pPr>
              <a:buNone/>
            </a:pPr>
            <a:endParaRPr lang="en-US" sz="1400" dirty="0" smtClean="0">
              <a:latin typeface="Times New Roman" pitchFamily="18" charset="0"/>
              <a:cs typeface="Times New Roman" pitchFamily="18" charset="0"/>
            </a:endParaRPr>
          </a:p>
          <a:p>
            <a:pPr>
              <a:buNone/>
            </a:pPr>
            <a:endParaRPr lang="en-US" sz="1400" dirty="0" smtClean="0">
              <a:latin typeface="Times New Roman" pitchFamily="18" charset="0"/>
              <a:cs typeface="Times New Roman" pitchFamily="18" charset="0"/>
            </a:endParaRPr>
          </a:p>
          <a:p>
            <a:pPr>
              <a:buNone/>
            </a:pPr>
            <a:endParaRPr lang="en-US" sz="1400" dirty="0" smtClean="0">
              <a:latin typeface="Times New Roman" pitchFamily="18" charset="0"/>
              <a:cs typeface="Times New Roman" pitchFamily="18" charset="0"/>
            </a:endParaRPr>
          </a:p>
          <a:p>
            <a:pPr>
              <a:buNone/>
            </a:pPr>
            <a:endParaRPr lang="en-US" sz="1400" dirty="0" smtClean="0">
              <a:latin typeface="Times New Roman" pitchFamily="18" charset="0"/>
              <a:cs typeface="Times New Roman" pitchFamily="18" charset="0"/>
            </a:endParaRPr>
          </a:p>
          <a:p>
            <a:pPr>
              <a:buNone/>
            </a:pPr>
            <a:endParaRPr lang="en-US" sz="1400" dirty="0" smtClean="0">
              <a:latin typeface="Times New Roman" pitchFamily="18" charset="0"/>
              <a:cs typeface="Times New Roman" pitchFamily="18" charset="0"/>
            </a:endParaRPr>
          </a:p>
          <a:p>
            <a:pPr>
              <a:buNone/>
            </a:pPr>
            <a:endParaRPr lang="en-US" sz="1400" dirty="0" smtClean="0">
              <a:latin typeface="Times New Roman" pitchFamily="18" charset="0"/>
              <a:cs typeface="Times New Roman" pitchFamily="18" charset="0"/>
            </a:endParaRPr>
          </a:p>
          <a:p>
            <a:pPr>
              <a:buNone/>
            </a:pPr>
            <a:endParaRPr lang="en-US" sz="1400" dirty="0" smtClean="0">
              <a:latin typeface="Times New Roman" pitchFamily="18" charset="0"/>
              <a:cs typeface="Times New Roman" pitchFamily="18" charset="0"/>
            </a:endParaRPr>
          </a:p>
          <a:p>
            <a:pPr>
              <a:buNone/>
            </a:pPr>
            <a:endParaRPr lang="en-US" sz="1400" dirty="0" smtClean="0">
              <a:latin typeface="Times New Roman" pitchFamily="18" charset="0"/>
              <a:cs typeface="Times New Roman" pitchFamily="18" charset="0"/>
            </a:endParaRPr>
          </a:p>
          <a:p>
            <a:pPr>
              <a:buNone/>
            </a:pPr>
            <a:endParaRPr lang="en-US" sz="1400" dirty="0" smtClean="0">
              <a:latin typeface="Times New Roman" pitchFamily="18" charset="0"/>
              <a:cs typeface="Times New Roman" pitchFamily="18" charset="0"/>
            </a:endParaRPr>
          </a:p>
          <a:p>
            <a:pPr>
              <a:buNone/>
            </a:pPr>
            <a:endParaRPr lang="en-US" sz="1400" dirty="0" smtClean="0">
              <a:latin typeface="Times New Roman" pitchFamily="18" charset="0"/>
              <a:cs typeface="Times New Roman" pitchFamily="18" charset="0"/>
            </a:endParaRPr>
          </a:p>
          <a:p>
            <a:pPr>
              <a:buNone/>
            </a:pPr>
            <a:endParaRPr lang="en-US" sz="1400" dirty="0">
              <a:latin typeface="Times New Roman" pitchFamily="18" charset="0"/>
              <a:cs typeface="Times New Roman" pitchFamily="18" charset="0"/>
            </a:endParaRPr>
          </a:p>
          <a:p>
            <a:pPr>
              <a:buNone/>
            </a:pPr>
            <a:r>
              <a:rPr lang="en-US" sz="1400" dirty="0" smtClean="0">
                <a:latin typeface="Times New Roman" pitchFamily="18" charset="0"/>
                <a:cs typeface="Times New Roman" pitchFamily="18" charset="0"/>
              </a:rPr>
              <a:t>Implementing PCA:</a:t>
            </a:r>
          </a:p>
          <a:p>
            <a:pPr lvl="0"/>
            <a:r>
              <a:rPr lang="en-US" sz="1400" dirty="0" smtClean="0">
                <a:latin typeface="Times New Roman" pitchFamily="18" charset="0"/>
                <a:cs typeface="Times New Roman" pitchFamily="18" charset="0"/>
              </a:rPr>
              <a:t>We performed dimensionality reduction technique Principal Component Analysis (PCA). </a:t>
            </a:r>
          </a:p>
          <a:p>
            <a:pPr lvl="0"/>
            <a:r>
              <a:rPr lang="en-US" sz="1400" dirty="0" smtClean="0">
                <a:latin typeface="Times New Roman" pitchFamily="18" charset="0"/>
                <a:cs typeface="Times New Roman" pitchFamily="18" charset="0"/>
              </a:rPr>
              <a:t>The total number of principal components, which are highly contributing are 17. </a:t>
            </a:r>
          </a:p>
          <a:p>
            <a:pPr lvl="0"/>
            <a:r>
              <a:rPr lang="en-US" sz="1400" dirty="0" smtClean="0">
                <a:latin typeface="Times New Roman" pitchFamily="18" charset="0"/>
                <a:cs typeface="Times New Roman" pitchFamily="18" charset="0"/>
              </a:rPr>
              <a:t>Saved the final </a:t>
            </a:r>
            <a:r>
              <a:rPr lang="en-US" sz="1400" dirty="0" err="1" smtClean="0">
                <a:latin typeface="Times New Roman" pitchFamily="18" charset="0"/>
                <a:cs typeface="Times New Roman" pitchFamily="18" charset="0"/>
              </a:rPr>
              <a:t>dataframe</a:t>
            </a:r>
            <a:r>
              <a:rPr lang="en-US" sz="1400" dirty="0" smtClean="0">
                <a:latin typeface="Times New Roman" pitchFamily="18" charset="0"/>
                <a:cs typeface="Times New Roman" pitchFamily="18" charset="0"/>
              </a:rPr>
              <a:t> into </a:t>
            </a:r>
            <a:r>
              <a:rPr lang="en-US" sz="1400" dirty="0" err="1" smtClean="0">
                <a:latin typeface="Times New Roman" pitchFamily="18" charset="0"/>
                <a:cs typeface="Times New Roman" pitchFamily="18" charset="0"/>
              </a:rPr>
              <a:t>csv</a:t>
            </a:r>
            <a:r>
              <a:rPr lang="en-US" sz="1400" dirty="0" smtClean="0">
                <a:latin typeface="Times New Roman" pitchFamily="18" charset="0"/>
                <a:cs typeface="Times New Roman" pitchFamily="18" charset="0"/>
              </a:rPr>
              <a:t> file in the local drive.</a:t>
            </a:r>
          </a:p>
          <a:p>
            <a:pPr>
              <a:buNone/>
            </a:pPr>
            <a:endParaRPr lang="en-US" sz="1400" dirty="0">
              <a:latin typeface="Times New Roman" pitchFamily="18" charset="0"/>
              <a:cs typeface="Times New Roman" pitchFamily="18" charset="0"/>
            </a:endParaRPr>
          </a:p>
        </p:txBody>
      </p:sp>
      <p:pic>
        <p:nvPicPr>
          <p:cNvPr id="6" name="Picture 2"/>
          <p:cNvPicPr>
            <a:picLocks noChangeAspect="1" noChangeArrowheads="1"/>
          </p:cNvPicPr>
          <p:nvPr/>
        </p:nvPicPr>
        <p:blipFill>
          <a:blip r:embed="rId2" cstate="print"/>
          <a:srcRect/>
          <a:stretch>
            <a:fillRect/>
          </a:stretch>
        </p:blipFill>
        <p:spPr bwMode="auto">
          <a:xfrm>
            <a:off x="2195736" y="1988840"/>
            <a:ext cx="4018530" cy="281044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Methodology</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pPr marL="514350" indent="-514350">
              <a:buAutoNum type="arabicPeriod"/>
            </a:pPr>
            <a:r>
              <a:rPr lang="en-US" sz="1800" dirty="0" smtClean="0">
                <a:latin typeface="Times New Roman" pitchFamily="18" charset="0"/>
                <a:cs typeface="Times New Roman" pitchFamily="18" charset="0"/>
              </a:rPr>
              <a:t>Data </a:t>
            </a:r>
            <a:r>
              <a:rPr lang="en-US" sz="1800" dirty="0" smtClean="0">
                <a:latin typeface="Times New Roman" pitchFamily="18" charset="0"/>
                <a:cs typeface="Times New Roman" pitchFamily="18" charset="0"/>
              </a:rPr>
              <a:t>Collection</a:t>
            </a:r>
            <a:endParaRPr lang="en-US" sz="1800" dirty="0" smtClean="0">
              <a:latin typeface="Times New Roman" pitchFamily="18" charset="0"/>
              <a:cs typeface="Times New Roman" pitchFamily="18" charset="0"/>
            </a:endParaRPr>
          </a:p>
          <a:p>
            <a:pPr marL="1314450" lvl="2" indent="-514350"/>
            <a:r>
              <a:rPr lang="en-US" sz="1400" dirty="0" smtClean="0">
                <a:latin typeface="Times New Roman" pitchFamily="18" charset="0"/>
                <a:cs typeface="Times New Roman" pitchFamily="18" charset="0"/>
              </a:rPr>
              <a:t>Energy Data</a:t>
            </a:r>
          </a:p>
          <a:p>
            <a:pPr marL="1314450" lvl="2" indent="-514350"/>
            <a:r>
              <a:rPr lang="en-US" sz="1400" dirty="0" smtClean="0">
                <a:latin typeface="Times New Roman" pitchFamily="18" charset="0"/>
                <a:cs typeface="Times New Roman" pitchFamily="18" charset="0"/>
              </a:rPr>
              <a:t>Weather Data</a:t>
            </a:r>
          </a:p>
          <a:p>
            <a:pPr marL="1314450" lvl="2" indent="-514350"/>
            <a:r>
              <a:rPr lang="en-US" sz="1400" dirty="0" smtClean="0">
                <a:latin typeface="Times New Roman" pitchFamily="18" charset="0"/>
                <a:cs typeface="Times New Roman" pitchFamily="18" charset="0"/>
              </a:rPr>
              <a:t>Final Data (Merging)</a:t>
            </a:r>
          </a:p>
          <a:p>
            <a:pPr marL="514350" indent="-514350">
              <a:buAutoNum type="arabicPeriod"/>
            </a:pPr>
            <a:r>
              <a:rPr lang="en-US" sz="1800" dirty="0" smtClean="0">
                <a:latin typeface="Times New Roman" pitchFamily="18" charset="0"/>
                <a:cs typeface="Times New Roman" pitchFamily="18" charset="0"/>
              </a:rPr>
              <a:t>Data pre-processing</a:t>
            </a:r>
          </a:p>
          <a:p>
            <a:pPr marL="1314450" lvl="2" indent="-514350"/>
            <a:r>
              <a:rPr lang="en-US" sz="1400" dirty="0" smtClean="0">
                <a:latin typeface="Times New Roman" pitchFamily="18" charset="0"/>
                <a:cs typeface="Times New Roman" pitchFamily="18" charset="0"/>
              </a:rPr>
              <a:t>Handling null values</a:t>
            </a:r>
          </a:p>
          <a:p>
            <a:pPr marL="1314450" lvl="2" indent="-514350"/>
            <a:r>
              <a:rPr lang="en-US" sz="1400" dirty="0" smtClean="0">
                <a:latin typeface="Times New Roman" pitchFamily="18" charset="0"/>
                <a:cs typeface="Times New Roman" pitchFamily="18" charset="0"/>
              </a:rPr>
              <a:t>Treating outliers</a:t>
            </a:r>
          </a:p>
          <a:p>
            <a:pPr marL="1314450" lvl="2" indent="-514350"/>
            <a:r>
              <a:rPr lang="en-US" sz="1400" dirty="0" smtClean="0">
                <a:latin typeface="Times New Roman" pitchFamily="18" charset="0"/>
                <a:cs typeface="Times New Roman" pitchFamily="18" charset="0"/>
              </a:rPr>
              <a:t>On-hot encoding</a:t>
            </a:r>
          </a:p>
          <a:p>
            <a:pPr marL="1314450" lvl="2" indent="-514350"/>
            <a:r>
              <a:rPr lang="en-US" sz="1400" dirty="0" smtClean="0">
                <a:latin typeface="Times New Roman" pitchFamily="18" charset="0"/>
                <a:cs typeface="Times New Roman" pitchFamily="18" charset="0"/>
              </a:rPr>
              <a:t>merging</a:t>
            </a:r>
          </a:p>
          <a:p>
            <a:pPr marL="514350" indent="-514350">
              <a:buAutoNum type="arabicPeriod"/>
            </a:pPr>
            <a:r>
              <a:rPr lang="en-US" sz="1800" dirty="0" smtClean="0">
                <a:latin typeface="Times New Roman" pitchFamily="18" charset="0"/>
                <a:cs typeface="Times New Roman" pitchFamily="18" charset="0"/>
              </a:rPr>
              <a:t>Dimensionality </a:t>
            </a:r>
            <a:r>
              <a:rPr lang="en-US" sz="1800" dirty="0" smtClean="0">
                <a:latin typeface="Times New Roman" pitchFamily="18" charset="0"/>
                <a:cs typeface="Times New Roman" pitchFamily="18" charset="0"/>
              </a:rPr>
              <a:t>Reduction</a:t>
            </a:r>
          </a:p>
          <a:p>
            <a:pPr marL="1314450" lvl="2" indent="-514350"/>
            <a:r>
              <a:rPr lang="en-US" sz="1400" dirty="0" smtClean="0">
                <a:latin typeface="Times New Roman" pitchFamily="18" charset="0"/>
                <a:cs typeface="Times New Roman" pitchFamily="18" charset="0"/>
              </a:rPr>
              <a:t>Principal Component Analysis (PCA)</a:t>
            </a:r>
          </a:p>
          <a:p>
            <a:pPr marL="514350" indent="-514350">
              <a:buAutoNum type="arabicPeriod"/>
            </a:pPr>
            <a:r>
              <a:rPr lang="en-US" sz="1800" dirty="0" smtClean="0">
                <a:latin typeface="Times New Roman" pitchFamily="18" charset="0"/>
                <a:cs typeface="Times New Roman" pitchFamily="18" charset="0"/>
              </a:rPr>
              <a:t>Model Building</a:t>
            </a:r>
          </a:p>
          <a:p>
            <a:pPr marL="1314450" lvl="2" indent="-514350"/>
            <a:r>
              <a:rPr lang="en-US" sz="1400" dirty="0" smtClean="0">
                <a:latin typeface="Times New Roman" pitchFamily="18" charset="0"/>
                <a:cs typeface="Times New Roman" pitchFamily="18" charset="0"/>
              </a:rPr>
              <a:t>Statistical Models</a:t>
            </a:r>
          </a:p>
          <a:p>
            <a:pPr marL="1314450" lvl="2" indent="-514350"/>
            <a:r>
              <a:rPr lang="en-US" sz="1400" dirty="0" smtClean="0">
                <a:latin typeface="Times New Roman" pitchFamily="18" charset="0"/>
                <a:cs typeface="Times New Roman" pitchFamily="18" charset="0"/>
              </a:rPr>
              <a:t>Neural Network Models</a:t>
            </a:r>
          </a:p>
          <a:p>
            <a:pPr marL="514350" indent="-514350">
              <a:buAutoNum type="arabicPeriod"/>
            </a:pPr>
            <a:r>
              <a:rPr lang="en-US" sz="1800" dirty="0" smtClean="0">
                <a:latin typeface="Times New Roman" pitchFamily="18" charset="0"/>
                <a:cs typeface="Times New Roman" pitchFamily="18" charset="0"/>
              </a:rPr>
              <a:t>Model Evaluation</a:t>
            </a:r>
          </a:p>
          <a:p>
            <a:pPr marL="514350" indent="-514350">
              <a:buAutoNum type="arabicPeriod"/>
            </a:pPr>
            <a:r>
              <a:rPr lang="en-US" sz="1800" dirty="0" smtClean="0">
                <a:latin typeface="Times New Roman" pitchFamily="18" charset="0"/>
                <a:cs typeface="Times New Roman" pitchFamily="18" charset="0"/>
              </a:rPr>
              <a:t>Comparison</a:t>
            </a:r>
          </a:p>
          <a:p>
            <a:pPr marL="1314450" lvl="2" indent="-514350">
              <a:buNone/>
            </a:pPr>
            <a:endParaRPr lang="en-US" dirty="0" smtClean="0"/>
          </a:p>
          <a:p>
            <a:pPr marL="1314450" lvl="2" indent="-514350">
              <a:buNone/>
            </a:pP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a:buNone/>
            </a:pPr>
            <a:r>
              <a:rPr lang="en-US" sz="2000" dirty="0" smtClean="0">
                <a:latin typeface="Times New Roman" pitchFamily="18" charset="0"/>
                <a:cs typeface="Times New Roman" pitchFamily="18" charset="0"/>
              </a:rPr>
              <a:t>The project follows a structured pipeline:</a:t>
            </a:r>
          </a:p>
          <a:p>
            <a:r>
              <a:rPr lang="en-US" sz="2000" b="1" dirty="0" smtClean="0">
                <a:latin typeface="Times New Roman" pitchFamily="18" charset="0"/>
                <a:cs typeface="Times New Roman" pitchFamily="18" charset="0"/>
              </a:rPr>
              <a:t>Data Collection: </a:t>
            </a:r>
            <a:r>
              <a:rPr lang="en-US" sz="2000" dirty="0" smtClean="0">
                <a:latin typeface="Times New Roman" pitchFamily="18" charset="0"/>
                <a:cs typeface="Times New Roman" pitchFamily="18" charset="0"/>
              </a:rPr>
              <a:t>Collected electricity production and supply data from public CSV files.</a:t>
            </a:r>
          </a:p>
          <a:p>
            <a:r>
              <a:rPr lang="en-US" sz="2100" b="1" dirty="0" smtClean="0">
                <a:latin typeface="Times New Roman" pitchFamily="18" charset="0"/>
                <a:cs typeface="Times New Roman" pitchFamily="18" charset="0"/>
              </a:rPr>
              <a:t>Data Preprocessing: </a:t>
            </a:r>
            <a:r>
              <a:rPr lang="en-US" sz="2000" dirty="0" smtClean="0">
                <a:latin typeface="Times New Roman" pitchFamily="18" charset="0"/>
                <a:cs typeface="Times New Roman" pitchFamily="18" charset="0"/>
              </a:rPr>
              <a:t>Handled missing values, removed duplicates, and encoded categorical data.</a:t>
            </a:r>
          </a:p>
          <a:p>
            <a:r>
              <a:rPr lang="en-US" sz="2000" b="1" dirty="0" smtClean="0">
                <a:latin typeface="Times New Roman" pitchFamily="18" charset="0"/>
                <a:cs typeface="Times New Roman" pitchFamily="18" charset="0"/>
              </a:rPr>
              <a:t>Feature Engineering &amp; Merging: </a:t>
            </a:r>
            <a:r>
              <a:rPr lang="en-US" sz="2000" dirty="0" smtClean="0">
                <a:latin typeface="Times New Roman" pitchFamily="18" charset="0"/>
                <a:cs typeface="Times New Roman" pitchFamily="18" charset="0"/>
              </a:rPr>
              <a:t>Created new features and merged multiple datasets for a unified view.</a:t>
            </a:r>
          </a:p>
          <a:p>
            <a:r>
              <a:rPr lang="en-US" sz="2100" b="1" dirty="0" smtClean="0">
                <a:latin typeface="Times New Roman" pitchFamily="18" charset="0"/>
                <a:cs typeface="Times New Roman" pitchFamily="18" charset="0"/>
              </a:rPr>
              <a:t>Dimensionality Reduction: </a:t>
            </a:r>
            <a:r>
              <a:rPr lang="en-US" sz="2000" dirty="0" smtClean="0">
                <a:latin typeface="Times New Roman" pitchFamily="18" charset="0"/>
                <a:cs typeface="Times New Roman" pitchFamily="18" charset="0"/>
              </a:rPr>
              <a:t>Applied PCA to reduce data complexity while retaining key patterns.</a:t>
            </a:r>
          </a:p>
          <a:p>
            <a:r>
              <a:rPr lang="en-US" sz="2100" b="1" dirty="0" smtClean="0">
                <a:latin typeface="Times New Roman" pitchFamily="18" charset="0"/>
                <a:cs typeface="Times New Roman" pitchFamily="18" charset="0"/>
              </a:rPr>
              <a:t>Model Building: </a:t>
            </a:r>
            <a:r>
              <a:rPr lang="en-US" sz="2000" dirty="0" smtClean="0">
                <a:latin typeface="Times New Roman" pitchFamily="18" charset="0"/>
                <a:cs typeface="Times New Roman" pitchFamily="18" charset="0"/>
              </a:rPr>
              <a:t>Implemented ML and DL models including Linear Regression, Random Forest, and LSTM.</a:t>
            </a:r>
          </a:p>
          <a:p>
            <a:r>
              <a:rPr lang="en-US" sz="2100" b="1" dirty="0" smtClean="0">
                <a:latin typeface="Times New Roman" pitchFamily="18" charset="0"/>
                <a:cs typeface="Times New Roman" pitchFamily="18" charset="0"/>
              </a:rPr>
              <a:t>Predictions: </a:t>
            </a:r>
            <a:r>
              <a:rPr lang="en-US" sz="2000" dirty="0" smtClean="0">
                <a:latin typeface="Times New Roman" pitchFamily="18" charset="0"/>
                <a:cs typeface="Times New Roman" pitchFamily="18" charset="0"/>
              </a:rPr>
              <a:t>Models forecasted electricity metrics using test data.</a:t>
            </a:r>
          </a:p>
          <a:p>
            <a:r>
              <a:rPr lang="en-US" sz="2100" b="1" dirty="0" smtClean="0">
                <a:latin typeface="Times New Roman" pitchFamily="18" charset="0"/>
                <a:cs typeface="Times New Roman" pitchFamily="18" charset="0"/>
              </a:rPr>
              <a:t>Evaluation: </a:t>
            </a:r>
            <a:r>
              <a:rPr lang="en-US" sz="2000" dirty="0" smtClean="0">
                <a:latin typeface="Times New Roman" pitchFamily="18" charset="0"/>
                <a:cs typeface="Times New Roman" pitchFamily="18" charset="0"/>
              </a:rPr>
              <a:t>Compared model performance using MAE, MSE, and RMSE; LSTM performed best.</a:t>
            </a:r>
          </a:p>
          <a:p>
            <a:pPr>
              <a:buNone/>
            </a:pP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cstate="print"/>
          <a:srcRect/>
          <a:stretch>
            <a:fillRect/>
          </a:stretch>
        </p:blipFill>
        <p:spPr bwMode="auto">
          <a:xfrm>
            <a:off x="3059832" y="548680"/>
            <a:ext cx="3270711" cy="55054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Architecture</a:t>
            </a:r>
            <a:endParaRPr lang="en-US" dirty="0">
              <a:latin typeface="Times New Roman" pitchFamily="18" charset="0"/>
              <a:cs typeface="Times New Roman" pitchFamily="18" charset="0"/>
            </a:endParaRPr>
          </a:p>
        </p:txBody>
      </p:sp>
      <p:sp>
        <p:nvSpPr>
          <p:cNvPr id="5" name="Content Placeholder 4"/>
          <p:cNvSpPr>
            <a:spLocks noGrp="1"/>
          </p:cNvSpPr>
          <p:nvPr>
            <p:ph sz="half" idx="1"/>
          </p:nvPr>
        </p:nvSpPr>
        <p:spPr/>
        <p:txBody>
          <a:bodyPr/>
          <a:lstStyle/>
          <a:p>
            <a:pPr>
              <a:buNone/>
            </a:pPr>
            <a:r>
              <a:rPr lang="en-US" sz="2400" dirty="0" smtClean="0">
                <a:latin typeface="Times New Roman" pitchFamily="18" charset="0"/>
                <a:cs typeface="Times New Roman" pitchFamily="18" charset="0"/>
              </a:rPr>
              <a:t>ARIMA</a:t>
            </a:r>
          </a:p>
          <a:p>
            <a:pPr>
              <a:buNone/>
            </a:pPr>
            <a:endParaRPr lang="en-US" dirty="0" smtClean="0">
              <a:latin typeface="Times New Roman" pitchFamily="18" charset="0"/>
              <a:cs typeface="Times New Roman" pitchFamily="18" charset="0"/>
            </a:endParaRPr>
          </a:p>
          <a:p>
            <a:pPr>
              <a:buNone/>
            </a:pPr>
            <a:endParaRPr lang="en-US" dirty="0" smtClean="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a:p>
            <a:pPr>
              <a:buNone/>
            </a:pPr>
            <a:endParaRPr lang="en-US" dirty="0" smtClean="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p:txBody>
      </p:sp>
      <p:sp>
        <p:nvSpPr>
          <p:cNvPr id="6" name="Content Placeholder 5"/>
          <p:cNvSpPr>
            <a:spLocks noGrp="1"/>
          </p:cNvSpPr>
          <p:nvPr>
            <p:ph sz="half" idx="2"/>
          </p:nvPr>
        </p:nvSpPr>
        <p:spPr/>
        <p:txBody>
          <a:bodyPr/>
          <a:lstStyle/>
          <a:p>
            <a:pPr>
              <a:buNone/>
            </a:pPr>
            <a:r>
              <a:rPr lang="en-US" sz="2400" dirty="0" smtClean="0">
                <a:latin typeface="Times New Roman" pitchFamily="18" charset="0"/>
                <a:cs typeface="Times New Roman" pitchFamily="18" charset="0"/>
              </a:rPr>
              <a:t>SARIMA</a:t>
            </a:r>
          </a:p>
          <a:p>
            <a:pPr>
              <a:buNone/>
            </a:pPr>
            <a:endParaRPr lang="en-US"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p:txBody>
      </p:sp>
      <p:pic>
        <p:nvPicPr>
          <p:cNvPr id="9" name="Picture 2"/>
          <p:cNvPicPr>
            <a:picLocks noChangeAspect="1" noChangeArrowheads="1"/>
          </p:cNvPicPr>
          <p:nvPr/>
        </p:nvPicPr>
        <p:blipFill>
          <a:blip r:embed="rId2" cstate="print"/>
          <a:srcRect/>
          <a:stretch>
            <a:fillRect/>
          </a:stretch>
        </p:blipFill>
        <p:spPr bwMode="auto">
          <a:xfrm>
            <a:off x="683568" y="2276872"/>
            <a:ext cx="2679152" cy="3096344"/>
          </a:xfrm>
          <a:prstGeom prst="rect">
            <a:avLst/>
          </a:prstGeom>
          <a:noFill/>
          <a:ln w="9525">
            <a:noFill/>
            <a:miter lim="800000"/>
            <a:headEnd/>
            <a:tailEnd/>
          </a:ln>
          <a:effectLst/>
        </p:spPr>
      </p:pic>
      <p:pic>
        <p:nvPicPr>
          <p:cNvPr id="10" name="Picture 3"/>
          <p:cNvPicPr>
            <a:picLocks noChangeAspect="1" noChangeArrowheads="1"/>
          </p:cNvPicPr>
          <p:nvPr/>
        </p:nvPicPr>
        <p:blipFill>
          <a:blip r:embed="rId3" cstate="print"/>
          <a:srcRect/>
          <a:stretch>
            <a:fillRect/>
          </a:stretch>
        </p:blipFill>
        <p:spPr bwMode="auto">
          <a:xfrm>
            <a:off x="4932040" y="2348880"/>
            <a:ext cx="2897908" cy="295232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half" idx="1"/>
          </p:nvPr>
        </p:nvSpPr>
        <p:spPr>
          <a:xfrm>
            <a:off x="539552" y="980728"/>
            <a:ext cx="3384376" cy="4392488"/>
          </a:xfrm>
        </p:spPr>
        <p:txBody>
          <a:bodyPr/>
          <a:lstStyle/>
          <a:p>
            <a:pPr>
              <a:buNone/>
            </a:pPr>
            <a:r>
              <a:rPr lang="en-US" sz="2400" dirty="0" smtClean="0">
                <a:latin typeface="Times New Roman" pitchFamily="18" charset="0"/>
                <a:cs typeface="Times New Roman" pitchFamily="18" charset="0"/>
              </a:rPr>
              <a:t>SARIMAX</a:t>
            </a:r>
            <a:endParaRPr lang="en-US" dirty="0" smtClean="0">
              <a:latin typeface="Times New Roman" pitchFamily="18" charset="0"/>
              <a:cs typeface="Times New Roman" pitchFamily="18" charset="0"/>
            </a:endParaRPr>
          </a:p>
          <a:p>
            <a:pPr>
              <a:buNone/>
            </a:pPr>
            <a:endParaRPr lang="en-US" dirty="0" smtClean="0"/>
          </a:p>
          <a:p>
            <a:pPr>
              <a:buNone/>
            </a:pPr>
            <a:endParaRPr lang="en-US" dirty="0"/>
          </a:p>
        </p:txBody>
      </p:sp>
      <p:sp>
        <p:nvSpPr>
          <p:cNvPr id="7" name="Content Placeholder 6"/>
          <p:cNvSpPr>
            <a:spLocks noGrp="1"/>
          </p:cNvSpPr>
          <p:nvPr>
            <p:ph sz="half" idx="2"/>
          </p:nvPr>
        </p:nvSpPr>
        <p:spPr>
          <a:xfrm>
            <a:off x="6516216" y="980728"/>
            <a:ext cx="2160240" cy="4320480"/>
          </a:xfrm>
        </p:spPr>
        <p:txBody>
          <a:bodyPr/>
          <a:lstStyle/>
          <a:p>
            <a:pPr>
              <a:buNone/>
            </a:pPr>
            <a:r>
              <a:rPr lang="en-US" sz="2400" dirty="0" smtClean="0">
                <a:latin typeface="Times New Roman" pitchFamily="18" charset="0"/>
                <a:cs typeface="Times New Roman" pitchFamily="18" charset="0"/>
              </a:rPr>
              <a:t>DNN</a:t>
            </a:r>
          </a:p>
          <a:p>
            <a:pPr>
              <a:buNone/>
            </a:pPr>
            <a:endParaRPr lang="en-US" dirty="0"/>
          </a:p>
        </p:txBody>
      </p:sp>
      <p:pic>
        <p:nvPicPr>
          <p:cNvPr id="8" name="Picture 4"/>
          <p:cNvPicPr>
            <a:picLocks noChangeAspect="1" noChangeArrowheads="1"/>
          </p:cNvPicPr>
          <p:nvPr/>
        </p:nvPicPr>
        <p:blipFill>
          <a:blip r:embed="rId2" cstate="print"/>
          <a:srcRect/>
          <a:stretch>
            <a:fillRect/>
          </a:stretch>
        </p:blipFill>
        <p:spPr bwMode="auto">
          <a:xfrm>
            <a:off x="539552" y="1988840"/>
            <a:ext cx="2980919" cy="3419078"/>
          </a:xfrm>
          <a:prstGeom prst="rect">
            <a:avLst/>
          </a:prstGeom>
          <a:noFill/>
          <a:ln w="9525">
            <a:noFill/>
            <a:miter lim="800000"/>
            <a:headEnd/>
            <a:tailEnd/>
          </a:ln>
          <a:effectLst/>
        </p:spPr>
      </p:pic>
      <p:pic>
        <p:nvPicPr>
          <p:cNvPr id="9" name="Picture 5"/>
          <p:cNvPicPr>
            <a:picLocks noChangeAspect="1" noChangeArrowheads="1"/>
          </p:cNvPicPr>
          <p:nvPr/>
        </p:nvPicPr>
        <p:blipFill>
          <a:blip r:embed="rId3" cstate="print"/>
          <a:srcRect/>
          <a:stretch>
            <a:fillRect/>
          </a:stretch>
        </p:blipFill>
        <p:spPr bwMode="auto">
          <a:xfrm>
            <a:off x="3923928" y="1844824"/>
            <a:ext cx="1887463" cy="3676450"/>
          </a:xfrm>
          <a:prstGeom prst="rect">
            <a:avLst/>
          </a:prstGeom>
          <a:noFill/>
          <a:ln w="9525">
            <a:noFill/>
            <a:miter lim="800000"/>
            <a:headEnd/>
            <a:tailEnd/>
          </a:ln>
          <a:effectLst/>
        </p:spPr>
      </p:pic>
      <p:sp>
        <p:nvSpPr>
          <p:cNvPr id="11" name="Content Placeholder 6"/>
          <p:cNvSpPr txBox="1">
            <a:spLocks/>
          </p:cNvSpPr>
          <p:nvPr/>
        </p:nvSpPr>
        <p:spPr>
          <a:xfrm>
            <a:off x="3923928" y="980728"/>
            <a:ext cx="2160240" cy="432048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smtClean="0">
                <a:latin typeface="Times New Roman" pitchFamily="18" charset="0"/>
                <a:cs typeface="Times New Roman" pitchFamily="18" charset="0"/>
              </a:rPr>
              <a:t>LSTM</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p:txBody>
      </p:sp>
      <p:pic>
        <p:nvPicPr>
          <p:cNvPr id="13" name="Picture 6"/>
          <p:cNvPicPr>
            <a:picLocks noChangeAspect="1" noChangeArrowheads="1"/>
          </p:cNvPicPr>
          <p:nvPr/>
        </p:nvPicPr>
        <p:blipFill>
          <a:blip r:embed="rId4" cstate="print"/>
          <a:srcRect/>
          <a:stretch>
            <a:fillRect/>
          </a:stretch>
        </p:blipFill>
        <p:spPr bwMode="auto">
          <a:xfrm>
            <a:off x="6732240" y="2132856"/>
            <a:ext cx="1686961" cy="323334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Results</a:t>
            </a:r>
            <a:endParaRPr lang="en-US" dirty="0">
              <a:latin typeface="Times New Roman" pitchFamily="18" charset="0"/>
              <a:cs typeface="Times New Roman" pitchFamily="18" charset="0"/>
            </a:endParaRPr>
          </a:p>
        </p:txBody>
      </p:sp>
      <p:graphicFrame>
        <p:nvGraphicFramePr>
          <p:cNvPr id="4" name="Content Placeholder 3"/>
          <p:cNvGraphicFramePr>
            <a:graphicFrameLocks noGrp="1"/>
          </p:cNvGraphicFramePr>
          <p:nvPr>
            <p:ph idx="1"/>
          </p:nvPr>
        </p:nvGraphicFramePr>
        <p:xfrm>
          <a:off x="457200" y="1600200"/>
          <a:ext cx="8229600" cy="1483360"/>
        </p:xfrm>
        <a:graphic>
          <a:graphicData uri="http://schemas.openxmlformats.org/drawingml/2006/table">
            <a:tbl>
              <a:tblPr firstRow="1" bandRow="1">
                <a:tableStyleId>{5C22544A-7EE6-4342-B048-85BDC9FD1C3A}</a:tableStyleId>
              </a:tblPr>
              <a:tblGrid>
                <a:gridCol w="1371600"/>
                <a:gridCol w="1371600"/>
                <a:gridCol w="1371600"/>
                <a:gridCol w="1371600"/>
                <a:gridCol w="1371600"/>
                <a:gridCol w="1371600"/>
              </a:tblGrid>
              <a:tr h="370840">
                <a:tc>
                  <a:txBody>
                    <a:bodyPr/>
                    <a:lstStyle/>
                    <a:p>
                      <a:endParaRPr lang="en-US" dirty="0"/>
                    </a:p>
                  </a:txBody>
                  <a:tcPr/>
                </a:tc>
                <a:tc>
                  <a:txBody>
                    <a:bodyPr/>
                    <a:lstStyle/>
                    <a:p>
                      <a:r>
                        <a:rPr lang="en-US" dirty="0" smtClean="0"/>
                        <a:t>ARIMA</a:t>
                      </a:r>
                      <a:endParaRPr lang="en-US" dirty="0"/>
                    </a:p>
                  </a:txBody>
                  <a:tcPr/>
                </a:tc>
                <a:tc>
                  <a:txBody>
                    <a:bodyPr/>
                    <a:lstStyle/>
                    <a:p>
                      <a:r>
                        <a:rPr lang="en-US" dirty="0" smtClean="0"/>
                        <a:t>SARIMA</a:t>
                      </a:r>
                      <a:endParaRPr lang="en-US" dirty="0"/>
                    </a:p>
                  </a:txBody>
                  <a:tcPr/>
                </a:tc>
                <a:tc>
                  <a:txBody>
                    <a:bodyPr/>
                    <a:lstStyle/>
                    <a:p>
                      <a:r>
                        <a:rPr lang="en-US" dirty="0" smtClean="0"/>
                        <a:t>SARIMAX</a:t>
                      </a:r>
                      <a:endParaRPr lang="en-US" dirty="0"/>
                    </a:p>
                  </a:txBody>
                  <a:tcPr/>
                </a:tc>
                <a:tc>
                  <a:txBody>
                    <a:bodyPr/>
                    <a:lstStyle/>
                    <a:p>
                      <a:r>
                        <a:rPr lang="en-US" dirty="0" smtClean="0"/>
                        <a:t>LSTM</a:t>
                      </a:r>
                      <a:endParaRPr lang="en-US" dirty="0"/>
                    </a:p>
                  </a:txBody>
                  <a:tcPr/>
                </a:tc>
                <a:tc>
                  <a:txBody>
                    <a:bodyPr/>
                    <a:lstStyle/>
                    <a:p>
                      <a:r>
                        <a:rPr lang="en-US" dirty="0" smtClean="0"/>
                        <a:t>DNN</a:t>
                      </a:r>
                      <a:endParaRPr lang="en-US" dirty="0"/>
                    </a:p>
                  </a:txBody>
                  <a:tcPr/>
                </a:tc>
              </a:tr>
              <a:tr h="370840">
                <a:tc>
                  <a:txBody>
                    <a:bodyPr/>
                    <a:lstStyle/>
                    <a:p>
                      <a:r>
                        <a:rPr lang="en-US" dirty="0" smtClean="0"/>
                        <a:t>MSE</a:t>
                      </a:r>
                      <a:endParaRPr lang="en-US" dirty="0"/>
                    </a:p>
                  </a:txBody>
                  <a:tcPr/>
                </a:tc>
                <a:tc>
                  <a:txBody>
                    <a:bodyPr/>
                    <a:lstStyle/>
                    <a:p>
                      <a:r>
                        <a:rPr lang="en-US" dirty="0" smtClean="0"/>
                        <a:t>0.0292</a:t>
                      </a:r>
                      <a:endParaRPr lang="en-US" dirty="0"/>
                    </a:p>
                  </a:txBody>
                  <a:tcPr/>
                </a:tc>
                <a:tc>
                  <a:txBody>
                    <a:bodyPr/>
                    <a:lstStyle/>
                    <a:p>
                      <a:r>
                        <a:rPr lang="en-US" dirty="0" smtClean="0"/>
                        <a:t>0.6968</a:t>
                      </a:r>
                      <a:endParaRPr lang="en-US" dirty="0"/>
                    </a:p>
                  </a:txBody>
                  <a:tcPr/>
                </a:tc>
                <a:tc>
                  <a:txBody>
                    <a:bodyPr/>
                    <a:lstStyle/>
                    <a:p>
                      <a:r>
                        <a:rPr lang="en-US" dirty="0" smtClean="0"/>
                        <a:t>0.22</a:t>
                      </a:r>
                      <a:endParaRPr lang="en-US" dirty="0"/>
                    </a:p>
                  </a:txBody>
                  <a:tcPr/>
                </a:tc>
                <a:tc>
                  <a:txBody>
                    <a:bodyPr/>
                    <a:lstStyle/>
                    <a:p>
                      <a:r>
                        <a:rPr lang="en-US" dirty="0" smtClean="0"/>
                        <a:t>0.29</a:t>
                      </a:r>
                      <a:endParaRPr lang="en-US" dirty="0"/>
                    </a:p>
                  </a:txBody>
                  <a:tcPr/>
                </a:tc>
                <a:tc>
                  <a:txBody>
                    <a:bodyPr/>
                    <a:lstStyle/>
                    <a:p>
                      <a:r>
                        <a:rPr lang="en-US" dirty="0" smtClean="0"/>
                        <a:t>0.17</a:t>
                      </a:r>
                      <a:endParaRPr lang="en-US" dirty="0"/>
                    </a:p>
                  </a:txBody>
                  <a:tcPr/>
                </a:tc>
              </a:tr>
              <a:tr h="370840">
                <a:tc>
                  <a:txBody>
                    <a:bodyPr/>
                    <a:lstStyle/>
                    <a:p>
                      <a:r>
                        <a:rPr lang="en-US" dirty="0" smtClean="0"/>
                        <a:t>MAE</a:t>
                      </a:r>
                      <a:endParaRPr lang="en-US" dirty="0"/>
                    </a:p>
                  </a:txBody>
                  <a:tcPr/>
                </a:tc>
                <a:tc>
                  <a:txBody>
                    <a:bodyPr/>
                    <a:lstStyle/>
                    <a:p>
                      <a:r>
                        <a:rPr lang="en-US" dirty="0" smtClean="0"/>
                        <a:t>0.1265</a:t>
                      </a:r>
                      <a:endParaRPr lang="en-US" dirty="0"/>
                    </a:p>
                  </a:txBody>
                  <a:tcPr/>
                </a:tc>
                <a:tc>
                  <a:txBody>
                    <a:bodyPr/>
                    <a:lstStyle/>
                    <a:p>
                      <a:r>
                        <a:rPr lang="en-US" dirty="0" smtClean="0"/>
                        <a:t>0.2162</a:t>
                      </a:r>
                      <a:endParaRPr lang="en-US" dirty="0"/>
                    </a:p>
                  </a:txBody>
                  <a:tcPr/>
                </a:tc>
                <a:tc>
                  <a:txBody>
                    <a:bodyPr/>
                    <a:lstStyle/>
                    <a:p>
                      <a:r>
                        <a:rPr lang="en-US" dirty="0" smtClean="0"/>
                        <a:t>0.08</a:t>
                      </a:r>
                      <a:endParaRPr lang="en-US" dirty="0"/>
                    </a:p>
                  </a:txBody>
                  <a:tcPr/>
                </a:tc>
                <a:tc>
                  <a:txBody>
                    <a:bodyPr/>
                    <a:lstStyle/>
                    <a:p>
                      <a:r>
                        <a:rPr lang="en-US" dirty="0" smtClean="0"/>
                        <a:t>0.12</a:t>
                      </a:r>
                      <a:endParaRPr lang="en-US" dirty="0"/>
                    </a:p>
                  </a:txBody>
                  <a:tcPr/>
                </a:tc>
                <a:tc>
                  <a:txBody>
                    <a:bodyPr/>
                    <a:lstStyle/>
                    <a:p>
                      <a:r>
                        <a:rPr lang="en-US" dirty="0" smtClean="0"/>
                        <a:t>0.04</a:t>
                      </a:r>
                      <a:endParaRPr lang="en-US" dirty="0"/>
                    </a:p>
                  </a:txBody>
                  <a:tcPr/>
                </a:tc>
              </a:tr>
              <a:tr h="370840">
                <a:tc>
                  <a:txBody>
                    <a:bodyPr/>
                    <a:lstStyle/>
                    <a:p>
                      <a:r>
                        <a:rPr lang="en-US" dirty="0" smtClean="0"/>
                        <a:t>RMSE</a:t>
                      </a:r>
                      <a:endParaRPr lang="en-US" dirty="0"/>
                    </a:p>
                  </a:txBody>
                  <a:tcPr/>
                </a:tc>
                <a:tc>
                  <a:txBody>
                    <a:bodyPr/>
                    <a:lstStyle/>
                    <a:p>
                      <a:r>
                        <a:rPr lang="en-US" dirty="0" smtClean="0"/>
                        <a:t>0.1710</a:t>
                      </a:r>
                      <a:endParaRPr lang="en-US" dirty="0"/>
                    </a:p>
                  </a:txBody>
                  <a:tcPr/>
                </a:tc>
                <a:tc>
                  <a:txBody>
                    <a:bodyPr/>
                    <a:lstStyle/>
                    <a:p>
                      <a:r>
                        <a:rPr lang="en-US" dirty="0" smtClean="0"/>
                        <a:t>0.8347</a:t>
                      </a:r>
                      <a:endParaRPr lang="en-US" dirty="0"/>
                    </a:p>
                  </a:txBody>
                  <a:tcPr/>
                </a:tc>
                <a:tc>
                  <a:txBody>
                    <a:bodyPr/>
                    <a:lstStyle/>
                    <a:p>
                      <a:r>
                        <a:rPr lang="en-US" dirty="0" smtClean="0"/>
                        <a:t>0.28</a:t>
                      </a:r>
                      <a:endParaRPr lang="en-US" dirty="0"/>
                    </a:p>
                  </a:txBody>
                  <a:tcPr/>
                </a:tc>
                <a:tc>
                  <a:txBody>
                    <a:bodyPr/>
                    <a:lstStyle/>
                    <a:p>
                      <a:r>
                        <a:rPr lang="en-US" dirty="0" smtClean="0"/>
                        <a:t>0.35</a:t>
                      </a:r>
                      <a:endParaRPr lang="en-US" dirty="0"/>
                    </a:p>
                  </a:txBody>
                  <a:tcPr/>
                </a:tc>
                <a:tc>
                  <a:txBody>
                    <a:bodyPr/>
                    <a:lstStyle/>
                    <a:p>
                      <a:r>
                        <a:rPr lang="en-US" dirty="0" smtClean="0"/>
                        <a:t>0.21</a:t>
                      </a:r>
                      <a:endParaRPr lang="en-US" dirty="0"/>
                    </a:p>
                  </a:txBody>
                  <a:tcPr/>
                </a:tc>
              </a:tr>
            </a:tbl>
          </a:graphicData>
        </a:graphic>
      </p:graphicFrame>
      <p:sp>
        <p:nvSpPr>
          <p:cNvPr id="5" name="Rectangle 4"/>
          <p:cNvSpPr/>
          <p:nvPr/>
        </p:nvSpPr>
        <p:spPr>
          <a:xfrm>
            <a:off x="827584" y="3429000"/>
            <a:ext cx="6336704" cy="1384995"/>
          </a:xfrm>
          <a:prstGeom prst="rect">
            <a:avLst/>
          </a:prstGeom>
        </p:spPr>
        <p:txBody>
          <a:bodyPr wrap="square">
            <a:spAutoFit/>
          </a:bodyPr>
          <a:lstStyle/>
          <a:p>
            <a:pPr>
              <a:buFont typeface="Arial" pitchFamily="34" charset="0"/>
              <a:buChar char="•"/>
            </a:pPr>
            <a:r>
              <a:rPr lang="en-US" sz="1400" dirty="0" smtClean="0">
                <a:latin typeface="Times New Roman" pitchFamily="18" charset="0"/>
                <a:cs typeface="Times New Roman" pitchFamily="18" charset="0"/>
              </a:rPr>
              <a:t>   All models performed well.</a:t>
            </a:r>
          </a:p>
          <a:p>
            <a:pPr>
              <a:buFont typeface="Arial" pitchFamily="34" charset="0"/>
              <a:buChar char="•"/>
            </a:pPr>
            <a:r>
              <a:rPr lang="en-US" sz="1400" dirty="0" smtClean="0">
                <a:latin typeface="Times New Roman" pitchFamily="18" charset="0"/>
                <a:cs typeface="Times New Roman" pitchFamily="18" charset="0"/>
              </a:rPr>
              <a:t>   SARIMAX and DNN performed best.</a:t>
            </a:r>
          </a:p>
          <a:p>
            <a:pPr>
              <a:buFont typeface="Arial" pitchFamily="34" charset="0"/>
              <a:buChar char="•"/>
            </a:pPr>
            <a:r>
              <a:rPr lang="en-US" sz="1400" dirty="0" smtClean="0">
                <a:latin typeface="Times New Roman" pitchFamily="18" charset="0"/>
                <a:cs typeface="Times New Roman" pitchFamily="18" charset="0"/>
              </a:rPr>
              <a:t>   External weather features crucial for accuracy.</a:t>
            </a:r>
          </a:p>
          <a:p>
            <a:pPr>
              <a:buFont typeface="Arial" pitchFamily="34" charset="0"/>
              <a:buChar char="•"/>
            </a:pPr>
            <a:r>
              <a:rPr lang="en-US" sz="1400" dirty="0" smtClean="0">
                <a:latin typeface="Times New Roman" pitchFamily="18" charset="0"/>
                <a:cs typeface="Times New Roman" pitchFamily="18" charset="0"/>
              </a:rPr>
              <a:t>   Residuals mostly </a:t>
            </a:r>
            <a:r>
              <a:rPr lang="en-US" sz="1400" dirty="0" smtClean="0">
                <a:latin typeface="Times New Roman" pitchFamily="18" charset="0"/>
                <a:cs typeface="Times New Roman" pitchFamily="18" charset="0"/>
              </a:rPr>
              <a:t>normal.</a:t>
            </a:r>
          </a:p>
          <a:p>
            <a:pPr>
              <a:buFont typeface="Arial" pitchFamily="34" charset="0"/>
              <a:buChar char="•"/>
            </a:pPr>
            <a:endParaRPr lang="en-US" sz="1400" dirty="0" smtClean="0">
              <a:latin typeface="Times New Roman" pitchFamily="18" charset="0"/>
              <a:cs typeface="Times New Roman" pitchFamily="18" charset="0"/>
            </a:endParaRPr>
          </a:p>
          <a:p>
            <a:endParaRPr lang="en-US" sz="1400" dirty="0">
              <a:latin typeface="Times New Roman" pitchFamily="18" charset="0"/>
              <a:cs typeface="Times New Roman" pitchFamily="18" charset="0"/>
            </a:endParaRPr>
          </a:p>
        </p:txBody>
      </p:sp>
      <p:pic>
        <p:nvPicPr>
          <p:cNvPr id="6" name="Picture 2"/>
          <p:cNvPicPr>
            <a:picLocks noChangeAspect="1" noChangeArrowheads="1"/>
          </p:cNvPicPr>
          <p:nvPr/>
        </p:nvPicPr>
        <p:blipFill>
          <a:blip r:embed="rId2" cstate="print"/>
          <a:srcRect/>
          <a:stretch>
            <a:fillRect/>
          </a:stretch>
        </p:blipFill>
        <p:spPr bwMode="auto">
          <a:xfrm>
            <a:off x="1115616" y="4437112"/>
            <a:ext cx="3746340" cy="1764978"/>
          </a:xfrm>
          <a:prstGeom prst="rect">
            <a:avLst/>
          </a:prstGeom>
          <a:noFill/>
          <a:ln w="9525">
            <a:noFill/>
            <a:miter lim="800000"/>
            <a:headEnd/>
            <a:tailEnd/>
          </a:ln>
          <a:effectLst/>
        </p:spPr>
      </p:pic>
      <p:pic>
        <p:nvPicPr>
          <p:cNvPr id="7" name="Picture 3"/>
          <p:cNvPicPr>
            <a:picLocks noChangeAspect="1" noChangeArrowheads="1"/>
          </p:cNvPicPr>
          <p:nvPr/>
        </p:nvPicPr>
        <p:blipFill>
          <a:blip r:embed="rId3" cstate="print"/>
          <a:srcRect/>
          <a:stretch>
            <a:fillRect/>
          </a:stretch>
        </p:blipFill>
        <p:spPr bwMode="auto">
          <a:xfrm>
            <a:off x="5724128" y="4365104"/>
            <a:ext cx="2314222" cy="188518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Conclusion &amp; Future Scope</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buNone/>
            </a:pPr>
            <a:r>
              <a:rPr lang="en-US" sz="2400" b="1" dirty="0" smtClean="0">
                <a:latin typeface="Times New Roman" pitchFamily="18" charset="0"/>
                <a:cs typeface="Times New Roman" pitchFamily="18" charset="0"/>
              </a:rPr>
              <a:t>Conclusions</a:t>
            </a:r>
            <a:endParaRPr lang="en-US" sz="2800" b="1" dirty="0" smtClean="0">
              <a:latin typeface="Times New Roman" pitchFamily="18" charset="0"/>
              <a:cs typeface="Times New Roman" pitchFamily="18" charset="0"/>
            </a:endParaRPr>
          </a:p>
          <a:p>
            <a:r>
              <a:rPr lang="en-US" sz="1400" dirty="0" smtClean="0">
                <a:latin typeface="Times New Roman" pitchFamily="18" charset="0"/>
                <a:cs typeface="Times New Roman" pitchFamily="18" charset="0"/>
              </a:rPr>
              <a:t>DL models effective for nonlinear trends</a:t>
            </a:r>
          </a:p>
          <a:p>
            <a:r>
              <a:rPr lang="en-US" sz="1400" dirty="0" smtClean="0">
                <a:latin typeface="Times New Roman" pitchFamily="18" charset="0"/>
                <a:cs typeface="Times New Roman" pitchFamily="18" charset="0"/>
              </a:rPr>
              <a:t>SARIMAX and DNN are top performers</a:t>
            </a:r>
          </a:p>
          <a:p>
            <a:r>
              <a:rPr lang="en-US" sz="1400" dirty="0" smtClean="0">
                <a:latin typeface="Times New Roman" pitchFamily="18" charset="0"/>
                <a:cs typeface="Times New Roman" pitchFamily="18" charset="0"/>
              </a:rPr>
              <a:t>Weather data inclusion boosts accuracy</a:t>
            </a:r>
          </a:p>
          <a:p>
            <a:pPr>
              <a:buNone/>
            </a:pPr>
            <a:endParaRPr lang="en-US" sz="2000" dirty="0" smtClean="0">
              <a:latin typeface="Times New Roman" pitchFamily="18" charset="0"/>
              <a:cs typeface="Times New Roman" pitchFamily="18" charset="0"/>
            </a:endParaRPr>
          </a:p>
          <a:p>
            <a:pPr>
              <a:buNone/>
            </a:pPr>
            <a:r>
              <a:rPr lang="en-US" sz="2400" b="1" dirty="0" smtClean="0">
                <a:latin typeface="Times New Roman" pitchFamily="18" charset="0"/>
                <a:cs typeface="Times New Roman" pitchFamily="18" charset="0"/>
              </a:rPr>
              <a:t>Future Scope</a:t>
            </a:r>
          </a:p>
          <a:p>
            <a:r>
              <a:rPr lang="en-US" sz="1400" dirty="0" smtClean="0">
                <a:latin typeface="Times New Roman" pitchFamily="18" charset="0"/>
                <a:cs typeface="Times New Roman" pitchFamily="18" charset="0"/>
              </a:rPr>
              <a:t>Try hybrid models (ARIMA-LSTM)</a:t>
            </a:r>
          </a:p>
          <a:p>
            <a:r>
              <a:rPr lang="en-US" sz="1400" dirty="0" smtClean="0">
                <a:latin typeface="Times New Roman" pitchFamily="18" charset="0"/>
                <a:cs typeface="Times New Roman" pitchFamily="18" charset="0"/>
              </a:rPr>
              <a:t>Include more external features</a:t>
            </a:r>
          </a:p>
          <a:p>
            <a:r>
              <a:rPr lang="en-US" sz="1400" dirty="0" smtClean="0">
                <a:latin typeface="Times New Roman" pitchFamily="18" charset="0"/>
                <a:cs typeface="Times New Roman" pitchFamily="18" charset="0"/>
              </a:rPr>
              <a:t>Experiment with attention </a:t>
            </a:r>
            <a:r>
              <a:rPr lang="en-US" sz="1400" dirty="0" smtClean="0">
                <a:latin typeface="Times New Roman" pitchFamily="18" charset="0"/>
                <a:cs typeface="Times New Roman" pitchFamily="18" charset="0"/>
              </a:rPr>
              <a:t>models</a:t>
            </a:r>
          </a:p>
          <a:p>
            <a:r>
              <a:rPr lang="en-US" sz="1400" dirty="0" smtClean="0">
                <a:latin typeface="Times New Roman" pitchFamily="18" charset="0"/>
                <a:cs typeface="Times New Roman" pitchFamily="18" charset="0"/>
              </a:rPr>
              <a:t>Lag analysis</a:t>
            </a:r>
          </a:p>
          <a:p>
            <a:r>
              <a:rPr lang="en-US" sz="1400" dirty="0" smtClean="0">
                <a:latin typeface="Times New Roman" pitchFamily="18" charset="0"/>
                <a:cs typeface="Times New Roman" pitchFamily="18" charset="0"/>
              </a:rPr>
              <a:t>Feature Engineering </a:t>
            </a:r>
            <a:r>
              <a:rPr lang="en-US" sz="1400" dirty="0" err="1" smtClean="0">
                <a:latin typeface="Times New Roman" pitchFamily="18" charset="0"/>
                <a:cs typeface="Times New Roman" pitchFamily="18" charset="0"/>
              </a:rPr>
              <a:t>vs</a:t>
            </a:r>
            <a:r>
              <a:rPr lang="en-US" sz="1400" dirty="0" smtClean="0">
                <a:latin typeface="Times New Roman" pitchFamily="18" charset="0"/>
                <a:cs typeface="Times New Roman" pitchFamily="18" charset="0"/>
              </a:rPr>
              <a:t> Dimensionality Reduction</a:t>
            </a:r>
          </a:p>
          <a:p>
            <a:r>
              <a:rPr lang="en-US" sz="1400" dirty="0" smtClean="0">
                <a:latin typeface="Times New Roman" pitchFamily="18" charset="0"/>
                <a:cs typeface="Times New Roman" pitchFamily="18" charset="0"/>
              </a:rPr>
              <a:t>Instead of PCA other techniques </a:t>
            </a:r>
            <a:r>
              <a:rPr lang="en-US" sz="1400" smtClean="0">
                <a:latin typeface="Times New Roman" pitchFamily="18" charset="0"/>
                <a:cs typeface="Times New Roman" pitchFamily="18" charset="0"/>
              </a:rPr>
              <a:t>like multi ….</a:t>
            </a:r>
            <a:endParaRPr lang="en-US" sz="1400" dirty="0" smtClean="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References</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marL="514350" indent="-514350" fontAlgn="base">
              <a:buFont typeface="+mj-lt"/>
              <a:buAutoNum type="arabicPeriod"/>
            </a:pPr>
            <a:r>
              <a:rPr lang="en-US" sz="1400" dirty="0">
                <a:latin typeface="Times New Roman" pitchFamily="18" charset="0"/>
                <a:cs typeface="Times New Roman" pitchFamily="18" charset="0"/>
              </a:rPr>
              <a:t>Bryan Lim and Stefan </a:t>
            </a:r>
            <a:r>
              <a:rPr lang="en-US" sz="1400" dirty="0" err="1">
                <a:latin typeface="Times New Roman" pitchFamily="18" charset="0"/>
                <a:cs typeface="Times New Roman" pitchFamily="18" charset="0"/>
              </a:rPr>
              <a:t>Zohren</a:t>
            </a:r>
            <a:r>
              <a:rPr lang="en-US" sz="1400" dirty="0">
                <a:latin typeface="Times New Roman" pitchFamily="18" charset="0"/>
                <a:cs typeface="Times New Roman" pitchFamily="18" charset="0"/>
              </a:rPr>
              <a:t>, "Time-series forecasting with deep learning: a survey", Philosophical Transactions of the Royal Society A, vol. 379, no. 2194, pp. 20200209, </a:t>
            </a:r>
            <a:r>
              <a:rPr lang="en-US" sz="1400" dirty="0" smtClean="0">
                <a:latin typeface="Times New Roman" pitchFamily="18" charset="0"/>
                <a:cs typeface="Times New Roman" pitchFamily="18" charset="0"/>
              </a:rPr>
              <a:t>2021.</a:t>
            </a:r>
          </a:p>
          <a:p>
            <a:pPr marL="514350" indent="-514350" fontAlgn="base">
              <a:buFont typeface="+mj-lt"/>
              <a:buAutoNum type="arabicPeriod"/>
            </a:pPr>
            <a:r>
              <a:rPr lang="en-US" sz="1400" dirty="0" smtClean="0">
                <a:latin typeface="Times New Roman" pitchFamily="18" charset="0"/>
                <a:cs typeface="Times New Roman" pitchFamily="18" charset="0"/>
              </a:rPr>
              <a:t>S</a:t>
            </a:r>
            <a:r>
              <a:rPr lang="en-US" sz="1400" dirty="0">
                <a:latin typeface="Times New Roman" pitchFamily="18" charset="0"/>
                <a:cs typeface="Times New Roman" pitchFamily="18" charset="0"/>
              </a:rPr>
              <a:t>. Sharma and S. K. </a:t>
            </a:r>
            <a:r>
              <a:rPr lang="en-US" sz="1400" dirty="0" err="1">
                <a:latin typeface="Times New Roman" pitchFamily="18" charset="0"/>
                <a:cs typeface="Times New Roman" pitchFamily="18" charset="0"/>
              </a:rPr>
              <a:t>Mishra</a:t>
            </a:r>
            <a:r>
              <a:rPr lang="en-US" sz="1400" dirty="0">
                <a:latin typeface="Times New Roman" pitchFamily="18" charset="0"/>
                <a:cs typeface="Times New Roman" pitchFamily="18" charset="0"/>
              </a:rPr>
              <a:t>, "Electricity demand estimation using ARIMA forecasting model", 10.1109/MICAI46078.2018.00008, Jan. </a:t>
            </a:r>
            <a:r>
              <a:rPr lang="en-US" sz="1400" dirty="0" smtClean="0">
                <a:latin typeface="Times New Roman" pitchFamily="18" charset="0"/>
                <a:cs typeface="Times New Roman" pitchFamily="18" charset="0"/>
              </a:rPr>
              <a:t>2023.</a:t>
            </a:r>
          </a:p>
          <a:p>
            <a:pPr marL="514350" indent="-514350" fontAlgn="base">
              <a:buFont typeface="+mj-lt"/>
              <a:buAutoNum type="arabicPeriod"/>
            </a:pPr>
            <a:r>
              <a:rPr lang="en-US" sz="1400" dirty="0" err="1" smtClean="0">
                <a:latin typeface="Times New Roman" pitchFamily="18" charset="0"/>
                <a:cs typeface="Times New Roman" pitchFamily="18" charset="0"/>
              </a:rPr>
              <a:t>Wenxiang</a:t>
            </a:r>
            <a:r>
              <a:rPr lang="en-US" sz="1400" dirty="0" smtClean="0">
                <a:latin typeface="Times New Roman" pitchFamily="18" charset="0"/>
                <a:cs typeface="Times New Roman" pitchFamily="18" charset="0"/>
              </a:rPr>
              <a:t> </a:t>
            </a:r>
            <a:r>
              <a:rPr lang="en-US" sz="1400" dirty="0">
                <a:latin typeface="Times New Roman" pitchFamily="18" charset="0"/>
                <a:cs typeface="Times New Roman" pitchFamily="18" charset="0"/>
              </a:rPr>
              <a:t>Yin; </a:t>
            </a:r>
            <a:r>
              <a:rPr lang="en-US" sz="1400" dirty="0" err="1">
                <a:latin typeface="Times New Roman" pitchFamily="18" charset="0"/>
                <a:cs typeface="Times New Roman" pitchFamily="18" charset="0"/>
              </a:rPr>
              <a:t>Wen</a:t>
            </a:r>
            <a:r>
              <a:rPr lang="en-US" sz="1400" dirty="0">
                <a:latin typeface="Times New Roman" pitchFamily="18" charset="0"/>
                <a:cs typeface="Times New Roman" pitchFamily="18" charset="0"/>
              </a:rPr>
              <a:t> Ye; </a:t>
            </a:r>
            <a:r>
              <a:rPr lang="en-US" sz="1400" dirty="0" err="1">
                <a:latin typeface="Times New Roman" pitchFamily="18" charset="0"/>
                <a:cs typeface="Times New Roman" pitchFamily="18" charset="0"/>
              </a:rPr>
              <a:t>Guang</a:t>
            </a:r>
            <a:r>
              <a:rPr lang="en-US" sz="1400" dirty="0">
                <a:latin typeface="Times New Roman" pitchFamily="18" charset="0"/>
                <a:cs typeface="Times New Roman" pitchFamily="18" charset="0"/>
              </a:rPr>
              <a:t> Liu, “Applying Probabilistic Forecasting of Multidimensional Time Series to Electricity Load Analysis”, 10.1109/SEST61601.2024.10693985, July </a:t>
            </a:r>
            <a:r>
              <a:rPr lang="en-US" sz="1400" dirty="0" smtClean="0">
                <a:latin typeface="Times New Roman" pitchFamily="18" charset="0"/>
                <a:cs typeface="Times New Roman" pitchFamily="18" charset="0"/>
              </a:rPr>
              <a:t>2023</a:t>
            </a:r>
          </a:p>
          <a:p>
            <a:pPr marL="514350" indent="-514350" fontAlgn="base">
              <a:buFont typeface="+mj-lt"/>
              <a:buAutoNum type="arabicPeriod"/>
            </a:pPr>
            <a:r>
              <a:rPr lang="en-US" sz="1400" dirty="0" err="1" smtClean="0">
                <a:latin typeface="Times New Roman" pitchFamily="18" charset="0"/>
                <a:cs typeface="Times New Roman" pitchFamily="18" charset="0"/>
              </a:rPr>
              <a:t>Yizhuo</a:t>
            </a:r>
            <a:r>
              <a:rPr lang="en-US" sz="1400" dirty="0" smtClean="0">
                <a:latin typeface="Times New Roman" pitchFamily="18" charset="0"/>
                <a:cs typeface="Times New Roman" pitchFamily="18" charset="0"/>
              </a:rPr>
              <a:t> </a:t>
            </a:r>
            <a:r>
              <a:rPr lang="en-US" sz="1400" dirty="0">
                <a:latin typeface="Times New Roman" pitchFamily="18" charset="0"/>
                <a:cs typeface="Times New Roman" pitchFamily="18" charset="0"/>
              </a:rPr>
              <a:t>Liu; </a:t>
            </a:r>
            <a:r>
              <a:rPr lang="en-US" sz="1400" dirty="0" err="1">
                <a:latin typeface="Times New Roman" pitchFamily="18" charset="0"/>
                <a:cs typeface="Times New Roman" pitchFamily="18" charset="0"/>
              </a:rPr>
              <a:t>Weijia</a:t>
            </a:r>
            <a:r>
              <a:rPr lang="en-US" sz="1400" dirty="0">
                <a:latin typeface="Times New Roman" pitchFamily="18" charset="0"/>
                <a:cs typeface="Times New Roman" pitchFamily="18" charset="0"/>
              </a:rPr>
              <a:t> Sun, “ARIMA Time Series Modeling and Forecasting of Enterprise Electric Energy Consumption”, 10.1109/ICFEICT59519.2023.00087, May </a:t>
            </a:r>
            <a:r>
              <a:rPr lang="en-US" sz="1400" dirty="0" smtClean="0">
                <a:latin typeface="Times New Roman" pitchFamily="18" charset="0"/>
                <a:cs typeface="Times New Roman" pitchFamily="18" charset="0"/>
              </a:rPr>
              <a:t>2023</a:t>
            </a:r>
          </a:p>
          <a:p>
            <a:pPr marL="514350" indent="-514350" fontAlgn="base">
              <a:buFont typeface="+mj-lt"/>
              <a:buAutoNum type="arabicPeriod"/>
            </a:pPr>
            <a:r>
              <a:rPr lang="en-US" sz="1400" dirty="0" smtClean="0">
                <a:latin typeface="Times New Roman" pitchFamily="18" charset="0"/>
                <a:cs typeface="Times New Roman" pitchFamily="18" charset="0"/>
              </a:rPr>
              <a:t>Y</a:t>
            </a:r>
            <a:r>
              <a:rPr lang="en-US" sz="1400" dirty="0">
                <a:latin typeface="Times New Roman" pitchFamily="18" charset="0"/>
                <a:cs typeface="Times New Roman" pitchFamily="18" charset="0"/>
              </a:rPr>
              <a:t>. Wu, P. Cong and Y. Wang, "Charging load forecasting of electric vehicles based on VMD-SSA-SVR", IEEE Transactions on Transportation Electrification, </a:t>
            </a:r>
            <a:r>
              <a:rPr lang="en-US" sz="1400" dirty="0" smtClean="0">
                <a:latin typeface="Times New Roman" pitchFamily="18" charset="0"/>
                <a:cs typeface="Times New Roman" pitchFamily="18" charset="0"/>
              </a:rPr>
              <a:t>2023</a:t>
            </a:r>
          </a:p>
          <a:p>
            <a:pPr marL="514350" indent="-514350" fontAlgn="base">
              <a:buFont typeface="+mj-lt"/>
              <a:buAutoNum type="arabicPeriod"/>
            </a:pPr>
            <a:r>
              <a:rPr lang="en-US" sz="1400" dirty="0" smtClean="0">
                <a:latin typeface="Times New Roman" pitchFamily="18" charset="0"/>
                <a:cs typeface="Times New Roman" pitchFamily="18" charset="0"/>
              </a:rPr>
              <a:t>S</a:t>
            </a:r>
            <a:r>
              <a:rPr lang="en-US" sz="1400" dirty="0">
                <a:latin typeface="Times New Roman" pitchFamily="18" charset="0"/>
                <a:cs typeface="Times New Roman" pitchFamily="18" charset="0"/>
              </a:rPr>
              <a:t>. Deng, J. Wang, L. Tao, S. Zhang and H. Sun, "EV charging load forecasting model mining algorithm based on hybrid intelligence", Computers and Electrical Engineering, vol. 112, pp. 109010, 2023</a:t>
            </a:r>
            <a:r>
              <a:rPr lang="en-US" sz="1400" dirty="0" smtClean="0">
                <a:latin typeface="Times New Roman" pitchFamily="18" charset="0"/>
                <a:cs typeface="Times New Roman" pitchFamily="18" charset="0"/>
              </a:rPr>
              <a:t>.</a:t>
            </a:r>
            <a:endParaRPr lang="en-US" dirty="0" smtClean="0"/>
          </a:p>
          <a:p>
            <a:pPr marL="514350" lvl="0" indent="-514350" fontAlgn="base">
              <a:buFont typeface="+mj-lt"/>
              <a:buAutoNum type="arabicPeriod"/>
            </a:pPr>
            <a:r>
              <a:rPr lang="en-US" sz="1400" dirty="0">
                <a:latin typeface="Times New Roman" pitchFamily="18" charset="0"/>
                <a:cs typeface="Times New Roman" pitchFamily="18" charset="0"/>
              </a:rPr>
              <a:t>R. N. V. </a:t>
            </a:r>
            <a:r>
              <a:rPr lang="en-US" sz="1400" dirty="0" err="1">
                <a:latin typeface="Times New Roman" pitchFamily="18" charset="0"/>
                <a:cs typeface="Times New Roman" pitchFamily="18" charset="0"/>
              </a:rPr>
              <a:t>Jagan</a:t>
            </a:r>
            <a:r>
              <a:rPr lang="en-US" sz="1400" dirty="0">
                <a:latin typeface="Times New Roman" pitchFamily="18" charset="0"/>
                <a:cs typeface="Times New Roman" pitchFamily="18" charset="0"/>
              </a:rPr>
              <a:t> Mohan, B. H. V. S. Rama </a:t>
            </a:r>
            <a:r>
              <a:rPr lang="en-US" sz="1400" dirty="0" err="1">
                <a:latin typeface="Times New Roman" pitchFamily="18" charset="0"/>
                <a:cs typeface="Times New Roman" pitchFamily="18" charset="0"/>
              </a:rPr>
              <a:t>Krishnam</a:t>
            </a:r>
            <a:r>
              <a:rPr lang="en-US" sz="1400" dirty="0">
                <a:latin typeface="Times New Roman" pitchFamily="18" charset="0"/>
                <a:cs typeface="Times New Roman" pitchFamily="18" charset="0"/>
              </a:rPr>
              <a:t> </a:t>
            </a:r>
            <a:r>
              <a:rPr lang="en-US" sz="1400" dirty="0" err="1">
                <a:latin typeface="Times New Roman" pitchFamily="18" charset="0"/>
                <a:cs typeface="Times New Roman" pitchFamily="18" charset="0"/>
              </a:rPr>
              <a:t>Raju</a:t>
            </a:r>
            <a:r>
              <a:rPr lang="en-US" sz="1400" dirty="0">
                <a:latin typeface="Times New Roman" pitchFamily="18" charset="0"/>
                <a:cs typeface="Times New Roman" pitchFamily="18" charset="0"/>
              </a:rPr>
              <a:t>, V. Chandra </a:t>
            </a:r>
            <a:r>
              <a:rPr lang="en-US" sz="1400" dirty="0" err="1">
                <a:latin typeface="Times New Roman" pitchFamily="18" charset="0"/>
                <a:cs typeface="Times New Roman" pitchFamily="18" charset="0"/>
              </a:rPr>
              <a:t>Sekhar</a:t>
            </a:r>
            <a:r>
              <a:rPr lang="en-US" sz="1400" dirty="0">
                <a:latin typeface="Times New Roman" pitchFamily="18" charset="0"/>
                <a:cs typeface="Times New Roman" pitchFamily="18" charset="0"/>
              </a:rPr>
              <a:t>, T. V. K. P. Prasad. "Algorithms in Advanced Artificial Intelligence - Proceedings of International Conference on Algorithms in Advanced Artificial Intelligence (ICAAAI-2024)", CRC Press, 2025</a:t>
            </a:r>
          </a:p>
          <a:p>
            <a:pPr marL="514350" indent="-514350" fontAlgn="base">
              <a:buFont typeface="+mj-lt"/>
              <a:buAutoNum type="arabicPeriod"/>
            </a:pPr>
            <a:endParaRPr lang="en-US" sz="1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2077</TotalTime>
  <Words>1136</Words>
  <Application>Microsoft Office PowerPoint</Application>
  <PresentationFormat>On-screen Show (4:3)</PresentationFormat>
  <Paragraphs>199</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Electricity Production and Supply Prediction</vt:lpstr>
      <vt:lpstr>Presentation Outline</vt:lpstr>
      <vt:lpstr>Introduction</vt:lpstr>
      <vt:lpstr>Slide 4</vt:lpstr>
      <vt:lpstr>Literature Review</vt:lpstr>
      <vt:lpstr>Slide 6</vt:lpstr>
      <vt:lpstr>Slide 7</vt:lpstr>
      <vt:lpstr>Data Description</vt:lpstr>
      <vt:lpstr>Slide 9</vt:lpstr>
      <vt:lpstr>Methodology</vt:lpstr>
      <vt:lpstr>Slide 11</vt:lpstr>
      <vt:lpstr>Slide 12</vt:lpstr>
      <vt:lpstr>Architecture</vt:lpstr>
      <vt:lpstr>Slide 14</vt:lpstr>
      <vt:lpstr>Results</vt:lpstr>
      <vt:lpstr>Conclusion &amp; Future Scope</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Electricity Production and Supply Prediction</dc:title>
  <dc:creator>ABCD</dc:creator>
  <cp:lastModifiedBy>ABCD</cp:lastModifiedBy>
  <cp:revision>29</cp:revision>
  <dcterms:created xsi:type="dcterms:W3CDTF">2025-04-16T11:38:11Z</dcterms:created>
  <dcterms:modified xsi:type="dcterms:W3CDTF">2025-04-18T00:16:02Z</dcterms:modified>
</cp:coreProperties>
</file>